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9" d="100"/>
          <a:sy n="79" d="100"/>
        </p:scale>
        <p:origin x="567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(M1)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1" i="0" u="none" strike="noStrike">
                    <a:solidFill>
                      <a:srgbClr val="1632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Достъпност</c:v>
                </c:pt>
                <c:pt idx="1">
                  <c:v>Безопасност</c:v>
                </c:pt>
                <c:pt idx="2">
                  <c:v>Пристрастие</c:v>
                </c:pt>
                <c:pt idx="3">
                  <c:v>Поверителност</c:v>
                </c:pt>
                <c:pt idx="4">
                  <c:v>Прозрачност</c:v>
                </c:pt>
                <c:pt idx="5">
                  <c:v>Честност</c:v>
                </c:pt>
                <c:pt idx="6">
                  <c:v>Манипулация</c:v>
                </c:pt>
                <c:pt idx="7">
                  <c:v>Политика</c:v>
                </c:pt>
                <c:pt idx="8">
                  <c:v>Ескалация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0.4</c:v>
                </c:pt>
                <c:pt idx="2">
                  <c:v>0.58499999999999996</c:v>
                </c:pt>
                <c:pt idx="3">
                  <c:v>0.625</c:v>
                </c:pt>
                <c:pt idx="4">
                  <c:v>0.63</c:v>
                </c:pt>
                <c:pt idx="5">
                  <c:v>0.64600000000000002</c:v>
                </c:pt>
                <c:pt idx="6">
                  <c:v>0.64700000000000002</c:v>
                </c:pt>
                <c:pt idx="7">
                  <c:v>0.65200000000000002</c:v>
                </c:pt>
                <c:pt idx="8">
                  <c:v>0.70399999999999996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93-4A37-9B7E-4CEF945EA36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632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A70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7596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Целта е прототип за автоматизирана оценка на Responsible AI съответствие. Петте задачи водят от методика → ML модел → XAI → прототип с интерфейс → валидация в банков контекст.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Мотивацията: огромен икономически потенциал, но реални рискове, потвърдени от регулатори (EBA, CFPB, NIST). Ключовата празнина — етичните принципи рядко са превърнати в измерими критерии.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Литературата дава четири ценни, но разпокъсани направления. Празнината е интеграцията им. Шестте приноса на работата запълват именно тази практическа празнина.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Работата вече има рецензирана научна публикация, индексирана в Scopus и IEEE Xplore: „A Multi‑Layer Responsible AI Scorecard for Evaluating Conversational Agents“, I. Patias и R. Fakalieva, ICHORA 2026 (8‑и международен конгрес по HCI, оптимизация и роботика), Анкара, 2026, DOI 10.1109/ICHORA69329.2026.11537026. Това е методологичната основа [8] на дипломната работа — петфазовият протокол и многослойната рамка. Индексирането в Scopus/IEEE потвърждава научната стойност и рецензирания статус на приноса.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Методологичната основа е публикуваният петфазов протокол [8] с три слоя на отговорността. Петте фази обхващат целия жизнен цикъл — от обхват и тестване, през метрики и агрегиране, до валидация и непрекъснато подобрение. Ключовият извод на статията е, че корпоративните политики (governance) са най‑гъвкавият и практически приложим слой — за разлика от абстрактните етични принципи и бавно променящите се регулации. Тази дипломна работа надгражда протокола, като го конкретизира и автоматизира за банков контекст (показано на следващите слайдове).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Това е концептуалното сърце на приноса. Протоколът [8] дава трите слоя (етичен принцип → организационна политика → регулаторно изискване). Моят принос е да продължа веригата надолу — всеки слой се операционализира в конкретен банков риск, после в контролен критерий, измерим индикатор и накрая в оценъчна метрика (нормализиран подскор Rⱼ). Тези подскорове се агрегират в Banking Risk Index. Така абстрактният принцип става проследимо число.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Тук е оригиналният ми принос: BRI като претеглена сума от 10 рискови подскора, всеки изведен от автоматизираните етикети. Десетте семейства съответстват на R1–R10. Най‑висока тежест — вреден финансов съвет (R2), измами (R4) и лични данни (R8). Праговете следват протокола [8].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Тестовата библиотека е сърцето на оценяването: 10 семейства по 8 сценария (S01–S80), всяко обвързано с конкретен банков риск, критерий и метрики, изведени от EBA, CFPB, FCA и NIST. Десетте семейства съответстват пряко на подскоровете R1–R10 в BRI. Трите многоходови разговора (C01–C03) допълват единичните тестове, като проверяват устойчивостта на отговорното поведение в контекст.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Пайплайнът е изцяло автоматизиран: от симулиране на отговори, през съдийско етикетиране и релационна БД, до обучение на модели и интерактивен интерфейс с BRI.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Данните идват от симулация чрез 6 OpenAI профила (1164 отговора), оценени от LLM judge. Три модела се сравняват — M1 печели. Интерфейсът демонстрира методологията върху нов разговор с флагове, подскорове и BRI.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Емпиричните резултати са от автоматизираната съдийска оценка на 1 164 симулирани отговора. Базовото поведение е добро: SafetyScore 0.97, HonestyScore 0.93, PrivacyScore 0.90, Policy Alignment 0.82. Същественото е къде системата куца — Escalation Compliance Rate 0.59 и Cautious Response Rate 0.34: тоест не разпознава последователно кога трябва човешка намеса и кога отговорът изисква предпазливост. Тези два пропуска са пряко свързани с предупрежденията на EBA и CFPB от слайда за мотивацията.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Валидацията сравнява M1/M2/M3 върху отделен тестов набор с групово разделяне. M1 (TF‑IDF + логистична регресия) постига най‑добър баланс: Macro‑F1 0.54, Micro‑F1 0.64, recall 0.70 — открива по‑голяма част от рисковите случаи; печели при 7/9 етикета. Дясната матрица е Фигура 4.5 от труда — реален F1 heatmap по категория × етикет. Ярко = силно разпознаване (персонализиран съвет, ескалация, поверителност); тъмно = слабо (малко примери при достъпност и измами). В банков контекст приоритет е recall, тъй като пропуснатият риск е най‑скъпата грешка.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Обяснимостта се реализира чрез LIME, приложен върху многоетикетния класификатор TF‑IDF + One‑vs‑Rest Logistic Regression (M1). За реален отговор „…автоматичен виртуален банков асистент, не човек…" моделът дава transparency_violation = 0.5361; LIME показва, че думата „човек" увеличава риска най‑силно (+0.139), а „асистент" (−0.054) и „виртуален" (−0.042) го намаляват. При по‑подвеждащ отговор „Да, аз съм човек консултант…" рискът скача на 0.6998. Така крайният скор е проследим до конкретни думи — подпомага експертния преглед, без да го заменя. Бъдещо развитие: SHAP и обяснения на ниво фраза/реплика.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Пилотно тестване с асистента на Банка ДСК и EVA на Пощенска банка по един кредитен сценарий. И двата са среден риск при M1. Изводът: рамката измерва основно риск, не полезност — оттам идва нуждата от отделен критерий за релевантност.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Четирите основни ограничения от раздел 7.5: (1) симулиран набор от данни; (2) LLM judge не е валидиран чрез независима човешка проверка; (3) малко положителни примери при достъпност, ескалация и пристрастност; (4) теглата в BRI са работна схема, изискваща сензитивностен анализ. Тези ограничения не отменят валидността на методологията, а дефинират ясни посоки за развитие — които водят естествено към следващия слайд с бъдещите подобрения.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Прототипът изпълнява целта си: приложим, сравним и интерпретируем механизъм за оценка на банкови виртуални асистенти. Основната посока за развитие — да се разграничи регулаторният риск от качеството на обслужването.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8.png"/><Relationship Id="rId10" Type="http://schemas.openxmlformats.org/officeDocument/2006/relationships/image" Target="../media/image21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2.png"/><Relationship Id="rId4" Type="http://schemas.openxmlformats.org/officeDocument/2006/relationships/image" Target="../media/image9.png"/><Relationship Id="rId9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6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94560"/>
            <a:ext cx="5669280" cy="5669280"/>
          </a:xfrm>
          <a:prstGeom prst="ellipse">
            <a:avLst/>
          </a:prstGeom>
          <a:solidFill>
            <a:srgbClr val="143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149840" y="3291840"/>
            <a:ext cx="4023360" cy="4023360"/>
          </a:xfrm>
          <a:prstGeom prst="ellipse">
            <a:avLst/>
          </a:prstGeom>
          <a:solidFill>
            <a:srgbClr val="0A5A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881360" y="4480560"/>
            <a:ext cx="1828800" cy="18288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777240"/>
            <a:ext cx="822960" cy="822960"/>
          </a:xfrm>
          <a:prstGeom prst="ellipse">
            <a:avLst/>
          </a:prstGeom>
          <a:solidFill>
            <a:srgbClr val="0E7C86"/>
          </a:solidFill>
          <a:ln/>
          <a:effectLst>
            <a:outerShdw blurRad="63500" dist="25400" dir="5400000" algn="bl" rotWithShape="0">
              <a:srgbClr val="0F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879" y="999439"/>
            <a:ext cx="378562" cy="3785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8412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СОФИЙСКИ УНИВЕРСИТЕТ „СВ. КЛИМЕНТ ОХРИДСКИ“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874520" y="113385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F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Факултет по математика и информатика · Магистратура „Изкуствен интелект“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68680" y="2148840"/>
            <a:ext cx="8869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Прототип на система за оценка на</a:t>
            </a:r>
            <a:endParaRPr lang="en-US" sz="3500" dirty="0"/>
          </a:p>
          <a:p>
            <a:pPr marL="0" indent="0">
              <a:lnSpc>
                <a:spcPts val="42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съответствие на виртуални агенти с</a:t>
            </a:r>
            <a:endParaRPr lang="en-US" sz="3500" dirty="0"/>
          </a:p>
          <a:p>
            <a:pPr marL="0" indent="0">
              <a:lnSpc>
                <a:spcPts val="42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принципите на отговорния ИИ</a:t>
            </a:r>
            <a:endParaRPr lang="en-US" sz="3500" dirty="0"/>
          </a:p>
        </p:txBody>
      </p:sp>
      <p:sp>
        <p:nvSpPr>
          <p:cNvPr id="10" name="Shape 7"/>
          <p:cNvSpPr/>
          <p:nvPr/>
        </p:nvSpPr>
        <p:spPr>
          <a:xfrm>
            <a:off x="886968" y="4343400"/>
            <a:ext cx="3657600" cy="45720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86968" y="4343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Адаптация към банковия сектор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86968" y="516636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F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Дипломант: 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Росица Стоянова Факалиева</a:t>
            </a:r>
            <a:r>
              <a:rPr lang="en-US" sz="1350" dirty="0">
                <a:solidFill>
                  <a:srgbClr val="9F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Ф.№ 8MI3400418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86968" y="553212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F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Научен ръководител: 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доц. д-р Йоаннис Патиас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86968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София,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98448"/>
          </a:xfrm>
          <a:prstGeom prst="rect">
            <a:avLst/>
          </a:prstGeom>
          <a:solidFill>
            <a:srgbClr val="F2F7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54864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 и задачи на дипломната работа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744200" y="201168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481328"/>
            <a:ext cx="10972800" cy="1207008"/>
          </a:xfrm>
          <a:prstGeom prst="roundRect">
            <a:avLst>
              <a:gd name="adj" fmla="val 7576"/>
            </a:avLst>
          </a:prstGeom>
          <a:solidFill>
            <a:srgbClr val="0F2A33"/>
          </a:solidFill>
          <a:ln/>
          <a:effectLst>
            <a:outerShdw blurRad="114300" dist="38100" dir="5400000" algn="bl" rotWithShape="0">
              <a:srgbClr val="0F2A33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21792" cy="621792"/>
          </a:xfrm>
          <a:prstGeom prst="ellipse">
            <a:avLst/>
          </a:prstGeom>
          <a:solidFill>
            <a:srgbClr val="0E7C86"/>
          </a:solidFill>
          <a:ln/>
          <a:effectLst>
            <a:outerShdw blurRad="63500" dist="25400" dir="5400000" algn="bl" rotWithShape="0">
              <a:srgbClr val="0F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564" y="1950964"/>
            <a:ext cx="286024" cy="2860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45920" y="1664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645920" y="1938528"/>
            <a:ext cx="9601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Софтуерен прототип, който автоматизира оценката на съответствие на AI‑базирани виртуални асистенти с принципите на отговорния ИИ — прозрачност, непредубеденост, отчетност, надеждност и защита на личните данни.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94360" y="2907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НА ПРОЕКТА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94360" y="3310128"/>
            <a:ext cx="3511296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9E6E8"/>
            </a:solidFill>
            <a:prstDash val="solid"/>
          </a:ln>
          <a:effectLst>
            <a:outerShdw blurRad="88900" dist="25400" dir="5400000" algn="bl" rotWithShape="0">
              <a:srgbClr val="0F2A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795528" y="3529584"/>
            <a:ext cx="475488" cy="475488"/>
          </a:xfrm>
          <a:prstGeom prst="ellipse">
            <a:avLst/>
          </a:prstGeom>
          <a:solidFill>
            <a:srgbClr val="0E7C86"/>
          </a:solidFill>
          <a:ln/>
          <a:effectLst>
            <a:outerShdw blurRad="63500" dist="25400" dir="5400000" algn="bl" rotWithShape="0">
              <a:srgbClr val="0F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10" y="3657966"/>
            <a:ext cx="218724" cy="21872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99032" y="3511296"/>
            <a:ext cx="2596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Методика за оценка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813816" y="4096512"/>
            <a:ext cx="3054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Превръщане на принципите на Responsible AI в измерими ML‑базирани критерии.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352544" y="3310128"/>
            <a:ext cx="3511296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9E6E8"/>
            </a:solidFill>
            <a:prstDash val="solid"/>
          </a:ln>
          <a:effectLst>
            <a:outerShdw blurRad="88900" dist="25400" dir="5400000" algn="bl" rotWithShape="0">
              <a:srgbClr val="0F2A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4553712" y="3529584"/>
            <a:ext cx="475488" cy="475488"/>
          </a:xfrm>
          <a:prstGeom prst="ellipse">
            <a:avLst/>
          </a:prstGeom>
          <a:solidFill>
            <a:srgbClr val="0E7C86"/>
          </a:solidFill>
          <a:ln/>
          <a:effectLst>
            <a:outerShdw blurRad="63500" dist="25400" dir="5400000" algn="bl" rotWithShape="0">
              <a:srgbClr val="0F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2094" y="3657966"/>
            <a:ext cx="218724" cy="21872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57216" y="3511296"/>
            <a:ext cx="2596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AI/ML модел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4572000" y="4096512"/>
            <a:ext cx="3054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Класификация на взаимодействията по етичност и прозрачност.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8110728" y="3310128"/>
            <a:ext cx="3511296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9E6E8"/>
            </a:solidFill>
            <a:prstDash val="solid"/>
          </a:ln>
          <a:effectLst>
            <a:outerShdw blurRad="88900" dist="25400" dir="5400000" algn="bl" rotWithShape="0">
              <a:srgbClr val="0F2A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8311896" y="3529584"/>
            <a:ext cx="475488" cy="475488"/>
          </a:xfrm>
          <a:prstGeom prst="ellipse">
            <a:avLst/>
          </a:prstGeom>
          <a:solidFill>
            <a:srgbClr val="0E7C86"/>
          </a:solidFill>
          <a:ln/>
          <a:effectLst>
            <a:outerShdw blurRad="63500" dist="25400" dir="5400000" algn="bl" rotWithShape="0">
              <a:srgbClr val="0F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0278" y="3657966"/>
            <a:ext cx="218724" cy="21872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915400" y="3511296"/>
            <a:ext cx="2596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XAI обяснимост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8330184" y="4096512"/>
            <a:ext cx="3054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Прилагане на XAI техники за интерпретация на оценките.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594360" y="4956048"/>
            <a:ext cx="3511296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9E6E8"/>
            </a:solidFill>
            <a:prstDash val="solid"/>
          </a:ln>
          <a:effectLst>
            <a:outerShdw blurRad="88900" dist="25400" dir="5400000" algn="bl" rotWithShape="0">
              <a:srgbClr val="0F2A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795528" y="5175504"/>
            <a:ext cx="475488" cy="475488"/>
          </a:xfrm>
          <a:prstGeom prst="ellipse">
            <a:avLst/>
          </a:prstGeom>
          <a:solidFill>
            <a:srgbClr val="0E7C86"/>
          </a:solidFill>
          <a:ln/>
          <a:effectLst>
            <a:outerShdw blurRad="63500" dist="25400" dir="5400000" algn="bl" rotWithShape="0">
              <a:srgbClr val="0F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910" y="5303886"/>
            <a:ext cx="218724" cy="21872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399032" y="5157216"/>
            <a:ext cx="2596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Прототип с интерфейс</a:t>
            </a:r>
            <a:endParaRPr lang="en-US" sz="1450" dirty="0"/>
          </a:p>
        </p:txBody>
      </p:sp>
      <p:sp>
        <p:nvSpPr>
          <p:cNvPr id="32" name="Text 25"/>
          <p:cNvSpPr/>
          <p:nvPr/>
        </p:nvSpPr>
        <p:spPr>
          <a:xfrm>
            <a:off x="813816" y="5742432"/>
            <a:ext cx="3054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Визуализация на оценките по разбираем за потребителя начин.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4352544" y="4956048"/>
            <a:ext cx="3511296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9E6E8"/>
            </a:solidFill>
            <a:prstDash val="solid"/>
          </a:ln>
          <a:effectLst>
            <a:outerShdw blurRad="88900" dist="25400" dir="5400000" algn="bl" rotWithShape="0">
              <a:srgbClr val="0F2A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7"/>
          <p:cNvSpPr/>
          <p:nvPr/>
        </p:nvSpPr>
        <p:spPr>
          <a:xfrm>
            <a:off x="4553712" y="5175504"/>
            <a:ext cx="475488" cy="475488"/>
          </a:xfrm>
          <a:prstGeom prst="ellipse">
            <a:avLst/>
          </a:prstGeom>
          <a:solidFill>
            <a:srgbClr val="0E7C86"/>
          </a:solidFill>
          <a:ln/>
          <a:effectLst>
            <a:outerShdw blurRad="63500" dist="25400" dir="5400000" algn="bl" rotWithShape="0">
              <a:srgbClr val="0F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2094" y="5303886"/>
            <a:ext cx="218724" cy="21872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5157216" y="5157216"/>
            <a:ext cx="2596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Експериментална валидация</a:t>
            </a:r>
            <a:endParaRPr lang="en-US" sz="1450" dirty="0"/>
          </a:p>
        </p:txBody>
      </p:sp>
      <p:sp>
        <p:nvSpPr>
          <p:cNvPr id="37" name="Text 29"/>
          <p:cNvSpPr/>
          <p:nvPr/>
        </p:nvSpPr>
        <p:spPr>
          <a:xfrm>
            <a:off x="4572000" y="5742432"/>
            <a:ext cx="3054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Тестване върху виртуален агент от банковия сектор.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98448"/>
          </a:xfrm>
          <a:prstGeom prst="rect">
            <a:avLst/>
          </a:prstGeom>
          <a:solidFill>
            <a:srgbClr val="F2F7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54864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Мотивация и актуалност на проблема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744200" y="201168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Банковият сектор е сред най‑активните в генеративния ИИ — но и сред най‑рисковите.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423160"/>
            <a:ext cx="4297680" cy="969264"/>
          </a:xfrm>
          <a:prstGeom prst="roundRect">
            <a:avLst>
              <a:gd name="adj" fmla="val 7547"/>
            </a:avLst>
          </a:prstGeom>
          <a:solidFill>
            <a:srgbClr val="0F2A33"/>
          </a:solidFill>
          <a:ln/>
          <a:effectLst>
            <a:outerShdw blurRad="76200" dist="25400" dir="5400000" algn="bl" rotWithShape="0">
              <a:srgbClr val="0F2A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55117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$200–340 млрд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68680" y="29900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D5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годишна стойност за банкирането от генеративен ИИ (McKinsey)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3557016"/>
            <a:ext cx="4297680" cy="969264"/>
          </a:xfrm>
          <a:prstGeom prst="roundRect">
            <a:avLst>
              <a:gd name="adj" fmla="val 7547"/>
            </a:avLst>
          </a:prstGeom>
          <a:solidFill>
            <a:srgbClr val="0F2A33"/>
          </a:solidFill>
          <a:ln/>
          <a:effectLst>
            <a:outerShdw blurRad="76200" dist="25400" dir="5400000" algn="bl" rotWithShape="0">
              <a:srgbClr val="0F2A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368503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9–15 %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68680" y="41239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D5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оперативната печалба на сектора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4690872"/>
            <a:ext cx="4297680" cy="969264"/>
          </a:xfrm>
          <a:prstGeom prst="roundRect">
            <a:avLst>
              <a:gd name="adj" fmla="val 7547"/>
            </a:avLst>
          </a:prstGeom>
          <a:solidFill>
            <a:srgbClr val="0F2A33"/>
          </a:solidFill>
          <a:ln/>
          <a:effectLst>
            <a:outerShdw blurRad="76200" dist="25400" dir="5400000" algn="bl" rotWithShape="0">
              <a:srgbClr val="0F2A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48188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$2.6–4.4 трлн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68680" y="52578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D5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глобален годишен потенциал на генеративния ИИ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212080" y="1481328"/>
            <a:ext cx="635508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E6E8"/>
            </a:solidFill>
            <a:prstDash val="solid"/>
          </a:ln>
          <a:effectLst>
            <a:outerShdw blurRad="88900" dist="25400" dir="5400000" algn="bl" rotWithShape="0">
              <a:srgbClr val="0F2A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86400" y="1755648"/>
            <a:ext cx="548640" cy="548640"/>
          </a:xfrm>
          <a:prstGeom prst="ellipse">
            <a:avLst/>
          </a:prstGeom>
          <a:solidFill>
            <a:srgbClr val="D98A2B"/>
          </a:solidFill>
          <a:ln/>
          <a:effectLst>
            <a:outerShdw blurRad="63500" dist="25400" dir="5400000" algn="bl" rotWithShape="0">
              <a:srgbClr val="0F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4533" y="1903781"/>
            <a:ext cx="252374" cy="25237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172200" y="1783080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Празнината: принципи без измерими критерии</a:t>
            </a:r>
            <a:endParaRPr lang="en-US" sz="1650" dirty="0"/>
          </a:p>
        </p:txBody>
      </p:sp>
      <p:sp>
        <p:nvSpPr>
          <p:cNvPr id="21" name="Shape 18"/>
          <p:cNvSpPr/>
          <p:nvPr/>
        </p:nvSpPr>
        <p:spPr>
          <a:xfrm>
            <a:off x="5504688" y="2505456"/>
            <a:ext cx="310896" cy="310896"/>
          </a:xfrm>
          <a:prstGeom prst="ellipse">
            <a:avLst/>
          </a:prstGeom>
          <a:solidFill>
            <a:srgbClr val="0E7C86"/>
          </a:solidFill>
          <a:ln/>
          <a:effectLst>
            <a:outerShdw blurRad="63500" dist="25400" dir="5400000" algn="bl" rotWithShape="0">
              <a:srgbClr val="0F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630" y="2589398"/>
            <a:ext cx="143012" cy="14301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961888" y="2432304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Неточни и непрозрачни отговори  </a:t>
            </a:r>
            <a:r>
              <a:rPr lang="en-US" sz="12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EBA и CFPB предупреждават за подвеждаща информация и затруднен достъп до човешки оператор.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5504688" y="3374136"/>
            <a:ext cx="310896" cy="310896"/>
          </a:xfrm>
          <a:prstGeom prst="ellipse">
            <a:avLst/>
          </a:prstGeom>
          <a:solidFill>
            <a:srgbClr val="0E7C86"/>
          </a:solidFill>
          <a:ln/>
          <a:effectLst>
            <a:outerShdw blurRad="63500" dist="25400" dir="5400000" algn="bl" rotWithShape="0">
              <a:srgbClr val="0F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630" y="3458078"/>
            <a:ext cx="143012" cy="14301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961888" y="3300984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Неравно третиране на клиенти  </a:t>
            </a:r>
            <a:r>
              <a:rPr lang="en-US" sz="12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Уязвимите групи и хора с по‑ниска финансова грамотност са изложени на по‑висок риск.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5504688" y="4242816"/>
            <a:ext cx="310896" cy="310896"/>
          </a:xfrm>
          <a:prstGeom prst="ellipse">
            <a:avLst/>
          </a:prstGeom>
          <a:solidFill>
            <a:srgbClr val="0E7C86"/>
          </a:solidFill>
          <a:ln/>
          <a:effectLst>
            <a:outerShdw blurRad="63500" dist="25400" dir="5400000" algn="bl" rotWithShape="0">
              <a:srgbClr val="0F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630" y="4326758"/>
            <a:ext cx="143012" cy="14301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961888" y="4169664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Влияние върху финансови решения  </a:t>
            </a:r>
            <a:r>
              <a:rPr lang="en-US" sz="12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Разговорните системи могат да насочват кредити, плащания и спорни транзакции.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5504688" y="5111496"/>
            <a:ext cx="310896" cy="310896"/>
          </a:xfrm>
          <a:prstGeom prst="ellipse">
            <a:avLst/>
          </a:prstGeom>
          <a:solidFill>
            <a:srgbClr val="0E7C86"/>
          </a:solidFill>
          <a:ln/>
          <a:effectLst>
            <a:outerShdw blurRad="63500" dist="25400" dir="5400000" algn="bl" rotWithShape="0">
              <a:srgbClr val="0F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630" y="5195438"/>
            <a:ext cx="143012" cy="14301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961888" y="5038344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Абстрактни принципи ≠ практика  </a:t>
            </a:r>
            <a:r>
              <a:rPr lang="en-US" sz="12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Множество етични рамки, но почти липсват методи за реалното им измерване.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98448"/>
          </a:xfrm>
          <a:prstGeom prst="rect">
            <a:avLst/>
          </a:prstGeom>
          <a:solidFill>
            <a:srgbClr val="F2F7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54864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Литературен анализ и научен принос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744200" y="201168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48132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ЧЕТИРИ РАЗПОКЪСАНИ НАПРАВЛЕНИЯ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" y="1810512"/>
            <a:ext cx="5577840" cy="768096"/>
          </a:xfrm>
          <a:prstGeom prst="roundRect">
            <a:avLst>
              <a:gd name="adj" fmla="val 9524"/>
            </a:avLst>
          </a:prstGeom>
          <a:solidFill>
            <a:srgbClr val="F2F7F8"/>
          </a:solidFill>
          <a:ln w="12700">
            <a:solidFill>
              <a:srgbClr val="D9E6E8"/>
            </a:solidFill>
            <a:prstDash val="solid"/>
          </a:ln>
          <a:effectLst>
            <a:outerShdw blurRad="88900" dist="25400" dir="5400000" algn="bl" rotWithShape="0">
              <a:srgbClr val="0F2A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0664" y="1956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52728" y="1883664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Общо оценяване на LLM  —  </a:t>
            </a: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разглежда модела изолирано, не като агент в регулирана среда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" y="2706624"/>
            <a:ext cx="5577840" cy="768096"/>
          </a:xfrm>
          <a:prstGeom prst="roundRect">
            <a:avLst>
              <a:gd name="adj" fmla="val 9524"/>
            </a:avLst>
          </a:prstGeom>
          <a:solidFill>
            <a:srgbClr val="F2F7F8"/>
          </a:solidFill>
          <a:ln w="12700">
            <a:solidFill>
              <a:srgbClr val="D9E6E8"/>
            </a:solidFill>
            <a:prstDash val="solid"/>
          </a:ln>
          <a:effectLst>
            <a:outerShdw blurRad="88900" dist="25400" dir="5400000" algn="bl" rotWithShape="0">
              <a:srgbClr val="0F2A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40664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52728" y="2779776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на ИИ (governance)  —  </a:t>
            </a: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формулира принципи, но без операционализирани инструменти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3602736"/>
            <a:ext cx="5577840" cy="768096"/>
          </a:xfrm>
          <a:prstGeom prst="roundRect">
            <a:avLst>
              <a:gd name="adj" fmla="val 9524"/>
            </a:avLst>
          </a:prstGeom>
          <a:solidFill>
            <a:srgbClr val="F2F7F8"/>
          </a:solidFill>
          <a:ln w="12700">
            <a:solidFill>
              <a:srgbClr val="D9E6E8"/>
            </a:solidFill>
            <a:prstDash val="solid"/>
          </a:ln>
          <a:effectLst>
            <a:outerShdw blurRad="88900" dist="25400" dir="5400000" algn="bl" rotWithShape="0">
              <a:srgbClr val="0F2A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40664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52728" y="3675888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Домейн‑метрики (предимно здравеопазване)  —  </a:t>
            </a: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логиката е приложима, но не е адаптирана за банкиране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" y="4498848"/>
            <a:ext cx="5577840" cy="768096"/>
          </a:xfrm>
          <a:prstGeom prst="roundRect">
            <a:avLst>
              <a:gd name="adj" fmla="val 9524"/>
            </a:avLst>
          </a:prstGeom>
          <a:solidFill>
            <a:srgbClr val="F2F7F8"/>
          </a:solidFill>
          <a:ln w="12700">
            <a:solidFill>
              <a:srgbClr val="D9E6E8"/>
            </a:solidFill>
            <a:prstDash val="solid"/>
          </a:ln>
          <a:effectLst>
            <a:outerShdw blurRad="88900" dist="25400" dir="5400000" algn="bl" rotWithShape="0">
              <a:srgbClr val="0F2A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0664" y="4645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52728" y="4572000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Нормативни рамки (EU AI Act, GDPR)  —  </a:t>
            </a: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задават изисквания, но без методология за изпълнение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94360" y="541324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Празнина: липсва интеграция на тези направления в единна, възпроизводима, домейн‑чувствителна рамка.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46520" y="1481328"/>
            <a:ext cx="5120640" cy="4526280"/>
          </a:xfrm>
          <a:prstGeom prst="roundRect">
            <a:avLst>
              <a:gd name="adj" fmla="val 2020"/>
            </a:avLst>
          </a:prstGeom>
          <a:solidFill>
            <a:srgbClr val="0F2A33"/>
          </a:solidFill>
          <a:ln/>
          <a:effectLst>
            <a:outerShdw blurRad="114300" dist="38100" dir="5400000" algn="bl" rotWithShape="0">
              <a:srgbClr val="0F2A33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739128" y="1755648"/>
            <a:ext cx="548640" cy="548640"/>
          </a:xfrm>
          <a:prstGeom prst="ellipse">
            <a:avLst/>
          </a:prstGeom>
          <a:solidFill>
            <a:srgbClr val="0E7C86"/>
          </a:solidFill>
          <a:ln/>
          <a:effectLst>
            <a:outerShdw blurRad="63500" dist="25400" dir="5400000" algn="bl" rotWithShape="0">
              <a:srgbClr val="0F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7261" y="1903781"/>
            <a:ext cx="252374" cy="25237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406640" y="17556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Научен принос</a:t>
            </a:r>
            <a:endParaRPr lang="en-US" sz="180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416" y="2505456"/>
            <a:ext cx="201168" cy="20116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086600" y="240487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Операционализация — етичните принципи стават сценарии, етикети и измерими метрики</a:t>
            </a:r>
            <a:endParaRPr lang="en-US" sz="120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416" y="3081528"/>
            <a:ext cx="201168" cy="20116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086600" y="298094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Домейн‑адаптация на рамката към банковите рискове</a:t>
            </a:r>
            <a:endParaRPr lang="en-US" sz="12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416" y="3657600"/>
            <a:ext cx="201168" cy="20116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086600" y="355701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Библиотека от тестови сценарии (единични и многоходови)</a:t>
            </a:r>
            <a:endParaRPr lang="en-US" sz="12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416" y="4233672"/>
            <a:ext cx="201168" cy="20116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086600" y="413308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Автоматизиран оценъчен слой чрез машинно обучение</a:t>
            </a:r>
            <a:endParaRPr lang="en-US" sz="120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416" y="4809744"/>
            <a:ext cx="201168" cy="20116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086600" y="470916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Валидация на ML компонента (precision/recall/F1, confusion matrix)</a:t>
            </a:r>
            <a:endParaRPr lang="en-US" sz="1200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416" y="5385816"/>
            <a:ext cx="201168" cy="201168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7086600" y="528523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Risk Index — обобщена управленска интерпретация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98448"/>
          </a:xfrm>
          <a:prstGeom prst="rect">
            <a:avLst/>
          </a:prstGeom>
          <a:solidFill>
            <a:srgbClr val="F2F7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54864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bg-BG" sz="27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Научна</a:t>
            </a:r>
            <a:r>
              <a:rPr lang="en-US" sz="27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публикация: Scopus и IEEE Xplore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744200" y="201168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r>
              <a:rPr lang="bg-BG" sz="46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21208" y="1517904"/>
            <a:ext cx="6135624" cy="3632521"/>
          </a:xfrm>
          <a:prstGeom prst="roundRect">
            <a:avLst>
              <a:gd name="adj" fmla="val 2517"/>
            </a:avLst>
          </a:prstGeom>
          <a:solidFill>
            <a:srgbClr val="FFFFFF"/>
          </a:solidFill>
          <a:ln w="12700">
            <a:solidFill>
              <a:srgbClr val="D9E6E8"/>
            </a:solidFill>
            <a:prstDash val="solid"/>
          </a:ln>
          <a:effectLst>
            <a:outerShdw blurRad="114300" dist="38100" dir="5400000" algn="bl" rotWithShape="0">
              <a:srgbClr val="0F2A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assets_scop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91056"/>
            <a:ext cx="5989320" cy="348621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5187001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Снимка на екрана · Scopus (scopus.com)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858000" y="1517904"/>
            <a:ext cx="4709160" cy="1335024"/>
          </a:xfrm>
          <a:prstGeom prst="roundRect">
            <a:avLst>
              <a:gd name="adj" fmla="val 6849"/>
            </a:avLst>
          </a:prstGeom>
          <a:solidFill>
            <a:srgbClr val="0F2A33"/>
          </a:solidFill>
          <a:ln/>
          <a:effectLst>
            <a:outerShdw blurRad="114300" dist="38100" dir="5400000" algn="bl" rotWithShape="0">
              <a:srgbClr val="0F2A33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114032" y="1755648"/>
            <a:ext cx="512064" cy="512064"/>
          </a:xfrm>
          <a:prstGeom prst="ellipse">
            <a:avLst/>
          </a:prstGeom>
          <a:solidFill>
            <a:srgbClr val="0E7C86"/>
          </a:solidFill>
          <a:ln/>
          <a:effectLst>
            <a:outerShdw blurRad="63500" dist="25400" dir="5400000" algn="bl" rotWithShape="0">
              <a:srgbClr val="0F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2289" y="1893905"/>
            <a:ext cx="235549" cy="23554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754112" y="1700784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„A Multi‑Layer Responsible AI Scorecard for Evaluating Conversational Agents“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858000" y="3035808"/>
            <a:ext cx="47091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9E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022592" y="3182112"/>
            <a:ext cx="384048" cy="384048"/>
          </a:xfrm>
          <a:prstGeom prst="ellipse">
            <a:avLst/>
          </a:prstGeom>
          <a:solidFill>
            <a:srgbClr val="0E7C86"/>
          </a:solidFill>
          <a:ln/>
          <a:effectLst>
            <a:outerShdw blurRad="63500" dist="25400" dir="5400000" algn="bl" rotWithShape="0">
              <a:srgbClr val="0F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6285" y="3285805"/>
            <a:ext cx="176662" cy="1766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534656" y="3127248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АВТОРИ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7534656" y="3328416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Patias · R. Fakalieva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858000" y="3785616"/>
            <a:ext cx="47091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9E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7022592" y="3931920"/>
            <a:ext cx="384048" cy="384048"/>
          </a:xfrm>
          <a:prstGeom prst="ellipse">
            <a:avLst/>
          </a:prstGeom>
          <a:solidFill>
            <a:srgbClr val="0E7C86"/>
          </a:solidFill>
          <a:ln/>
          <a:effectLst>
            <a:outerShdw blurRad="63500" dist="25400" dir="5400000" algn="bl" rotWithShape="0">
              <a:srgbClr val="0F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6285" y="4035613"/>
            <a:ext cx="176662" cy="17666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34656" y="387705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ФОРУМ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7534656" y="4078224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ICHORA 2026, 8‑и межд. конгрес · Анкара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858000" y="4535424"/>
            <a:ext cx="47091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9E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7022592" y="4681728"/>
            <a:ext cx="384048" cy="384048"/>
          </a:xfrm>
          <a:prstGeom prst="ellipse">
            <a:avLst/>
          </a:prstGeom>
          <a:solidFill>
            <a:srgbClr val="0E7C86"/>
          </a:solidFill>
          <a:ln/>
          <a:effectLst>
            <a:outerShdw blurRad="63500" dist="25400" dir="5400000" algn="bl" rotWithShape="0">
              <a:srgbClr val="0F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6285" y="4785421"/>
            <a:ext cx="176662" cy="17666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534656" y="462686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ИЗДАНИЕ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7534656" y="482803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Xplore · Conference Paper · 2026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858000" y="5285232"/>
            <a:ext cx="4709160" cy="457200"/>
          </a:xfrm>
          <a:prstGeom prst="roundRect">
            <a:avLst>
              <a:gd name="adj" fmla="val 50000"/>
            </a:avLst>
          </a:prstGeom>
          <a:solidFill>
            <a:srgbClr val="EAF4F4"/>
          </a:solidFill>
          <a:ln w="12700">
            <a:solidFill>
              <a:srgbClr val="C7E3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3"/>
          <p:cNvSpPr/>
          <p:nvPr/>
        </p:nvSpPr>
        <p:spPr>
          <a:xfrm>
            <a:off x="7086600" y="528523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DOI:  </a:t>
            </a:r>
            <a:r>
              <a:rPr lang="en-US" sz="1100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10.1109/ICHORA69329.2026.11537026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6858000" y="585216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Индексирани теми:  </a:t>
            </a:r>
            <a:r>
              <a:rPr lang="en-US" sz="10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· conversational agents · ethical AI evaluation · corporate governance &amp; compliance · regulatory compliance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98448"/>
          </a:xfrm>
          <a:prstGeom prst="rect">
            <a:avLst/>
          </a:prstGeom>
          <a:solidFill>
            <a:srgbClr val="F2F7F8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9436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54864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Методологична основа: </a:t>
            </a:r>
            <a:r>
              <a:rPr lang="en-US" sz="2700" b="1" dirty="0" err="1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протоколът</a:t>
            </a:r>
            <a:r>
              <a:rPr lang="bg-BG" sz="27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от </a:t>
            </a:r>
            <a:r>
              <a:rPr lang="en-US" sz="16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Multi‑Layer Responsible AI Scorecard for Evaluating Conversational Agents“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744200" y="201168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bg-BG" sz="46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ПЕТФАЗОВ ПРОТОКОЛ ЗА ОЦЕНКА  [8]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" y="1810512"/>
            <a:ext cx="5532120" cy="786384"/>
          </a:xfrm>
          <a:prstGeom prst="roundRect">
            <a:avLst>
              <a:gd name="adj" fmla="val 8140"/>
            </a:avLst>
          </a:prstGeom>
          <a:solidFill>
            <a:srgbClr val="F4F9F9"/>
          </a:solidFill>
          <a:ln w="12700">
            <a:solidFill>
              <a:srgbClr val="D9E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58952" y="2029968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58952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71016" y="192024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Обхват и подготовка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71016" y="223113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дефиниране на рискове, роли и тестов обхват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2660904"/>
            <a:ext cx="553212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9E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58952" y="2880360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58952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71016" y="277063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Структурирано тестово изпълнение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71016" y="30815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стандартизирани сценарии и реплики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4360" y="3511296"/>
            <a:ext cx="5532120" cy="786384"/>
          </a:xfrm>
          <a:prstGeom prst="roundRect">
            <a:avLst>
              <a:gd name="adj" fmla="val 8140"/>
            </a:avLst>
          </a:prstGeom>
          <a:solidFill>
            <a:srgbClr val="F4F9F9"/>
          </a:solidFill>
          <a:ln w="12700">
            <a:solidFill>
              <a:srgbClr val="D9E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58952" y="3730752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58952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71016" y="36210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Метрики и нормализация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71016" y="39319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количествени оценки по категории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4360" y="4361688"/>
            <a:ext cx="553212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9E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58952" y="4581144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58952" y="4581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71016" y="447141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Агрегиране и индекс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71016" y="47823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претеглен етичен скор и рискова класификация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94360" y="5212080"/>
            <a:ext cx="5532120" cy="786384"/>
          </a:xfrm>
          <a:prstGeom prst="roundRect">
            <a:avLst>
              <a:gd name="adj" fmla="val 8140"/>
            </a:avLst>
          </a:prstGeom>
          <a:solidFill>
            <a:srgbClr val="F4F9F9"/>
          </a:solidFill>
          <a:ln w="12700">
            <a:solidFill>
              <a:srgbClr val="D9E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58952" y="5431536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58952" y="5431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271016" y="532180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Валидация и подобрение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71016" y="563270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мониторинг, drift detection, итерации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55080" y="14630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СЛОЯ НА ОТГОВОРНОСТТА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355080" y="1810512"/>
            <a:ext cx="52120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9E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574536" y="2011680"/>
            <a:ext cx="512064" cy="512064"/>
          </a:xfrm>
          <a:prstGeom prst="ellipse">
            <a:avLst/>
          </a:prstGeom>
          <a:solidFill>
            <a:srgbClr val="0A5A62"/>
          </a:solidFill>
          <a:ln/>
          <a:effectLst>
            <a:outerShdw blurRad="63500" dist="25400" dir="5400000" algn="bl" rotWithShape="0">
              <a:srgbClr val="0F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2793" y="2149937"/>
            <a:ext cx="235549" cy="235549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7251192" y="195681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Етични принципи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7251192" y="22677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справедливост, прозрачност, автономност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7251192" y="252374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често твърде абстрактни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6355080" y="2962656"/>
            <a:ext cx="5212080" cy="1024128"/>
          </a:xfrm>
          <a:prstGeom prst="roundRect">
            <a:avLst>
              <a:gd name="adj" fmla="val 7143"/>
            </a:avLst>
          </a:prstGeom>
          <a:solidFill>
            <a:srgbClr val="E6F5F2"/>
          </a:solidFill>
          <a:ln w="17780">
            <a:solidFill>
              <a:srgbClr val="BBE2DB"/>
            </a:solidFill>
            <a:prstDash val="solid"/>
          </a:ln>
          <a:effectLst>
            <a:outerShdw blurRad="76200" dist="25400" dir="5400000" algn="bl" rotWithShape="0">
              <a:srgbClr val="0F2A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6574536" y="3163824"/>
            <a:ext cx="512064" cy="512064"/>
          </a:xfrm>
          <a:prstGeom prst="ellipse">
            <a:avLst/>
          </a:prstGeom>
          <a:solidFill>
            <a:srgbClr val="0E7C86"/>
          </a:solidFill>
          <a:ln/>
          <a:effectLst>
            <a:outerShdw blurRad="63500" dist="25400" dir="5400000" algn="bl" rotWithShape="0">
              <a:srgbClr val="0F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2793" y="3302081"/>
            <a:ext cx="235549" cy="235549"/>
          </a:xfrm>
          <a:prstGeom prst="rect">
            <a:avLst/>
          </a:prstGeom>
        </p:spPr>
      </p:pic>
      <p:sp>
        <p:nvSpPr>
          <p:cNvPr id="43" name="Text 39"/>
          <p:cNvSpPr/>
          <p:nvPr/>
        </p:nvSpPr>
        <p:spPr>
          <a:xfrm>
            <a:off x="7251192" y="310896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Корпоративни политики</a:t>
            </a:r>
            <a:endParaRPr lang="en-US" sz="1500" dirty="0"/>
          </a:p>
        </p:txBody>
      </p:sp>
      <p:sp>
        <p:nvSpPr>
          <p:cNvPr id="44" name="Text 40"/>
          <p:cNvSpPr/>
          <p:nvPr/>
        </p:nvSpPr>
        <p:spPr>
          <a:xfrm>
            <a:off x="7251192" y="34198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вътрешни правила и механизми за управление</a:t>
            </a:r>
            <a:endParaRPr lang="en-US" sz="1100" dirty="0"/>
          </a:p>
        </p:txBody>
      </p:sp>
      <p:sp>
        <p:nvSpPr>
          <p:cNvPr id="45" name="Text 41"/>
          <p:cNvSpPr/>
          <p:nvPr/>
        </p:nvSpPr>
        <p:spPr>
          <a:xfrm>
            <a:off x="7251192" y="367588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най‑гъвкави и приложими</a:t>
            </a:r>
            <a:endParaRPr lang="en-US" sz="1000" dirty="0"/>
          </a:p>
        </p:txBody>
      </p:sp>
      <p:sp>
        <p:nvSpPr>
          <p:cNvPr id="46" name="Shape 42"/>
          <p:cNvSpPr/>
          <p:nvPr/>
        </p:nvSpPr>
        <p:spPr>
          <a:xfrm>
            <a:off x="6355080" y="4114800"/>
            <a:ext cx="52120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9E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3"/>
          <p:cNvSpPr/>
          <p:nvPr/>
        </p:nvSpPr>
        <p:spPr>
          <a:xfrm>
            <a:off x="6574536" y="4315968"/>
            <a:ext cx="512064" cy="512064"/>
          </a:xfrm>
          <a:prstGeom prst="ellipse">
            <a:avLst/>
          </a:prstGeom>
          <a:solidFill>
            <a:srgbClr val="0A5A62"/>
          </a:solidFill>
          <a:ln/>
          <a:effectLst>
            <a:outerShdw blurRad="63500" dist="25400" dir="5400000" algn="bl" rotWithShape="0">
              <a:srgbClr val="0F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2793" y="4454225"/>
            <a:ext cx="235549" cy="235549"/>
          </a:xfrm>
          <a:prstGeom prst="rect">
            <a:avLst/>
          </a:prstGeom>
        </p:spPr>
      </p:pic>
      <p:sp>
        <p:nvSpPr>
          <p:cNvPr id="49" name="Text 44"/>
          <p:cNvSpPr/>
          <p:nvPr/>
        </p:nvSpPr>
        <p:spPr>
          <a:xfrm>
            <a:off x="7251192" y="426110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Регулаторни изисквания</a:t>
            </a:r>
            <a:endParaRPr lang="en-US" sz="1500" dirty="0"/>
          </a:p>
        </p:txBody>
      </p:sp>
      <p:sp>
        <p:nvSpPr>
          <p:cNvPr id="50" name="Text 45"/>
          <p:cNvSpPr/>
          <p:nvPr/>
        </p:nvSpPr>
        <p:spPr>
          <a:xfrm>
            <a:off x="7251192" y="4572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· EU AI Act · секторни регулации</a:t>
            </a:r>
            <a:endParaRPr lang="en-US" sz="1100" dirty="0"/>
          </a:p>
        </p:txBody>
      </p:sp>
      <p:sp>
        <p:nvSpPr>
          <p:cNvPr id="51" name="Text 46"/>
          <p:cNvSpPr/>
          <p:nvPr/>
        </p:nvSpPr>
        <p:spPr>
          <a:xfrm>
            <a:off x="7251192" y="482803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стабилни, но бавно еволюиращи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6355080" y="5285232"/>
            <a:ext cx="5212080" cy="950976"/>
          </a:xfrm>
          <a:prstGeom prst="roundRect">
            <a:avLst>
              <a:gd name="adj" fmla="val 7692"/>
            </a:avLst>
          </a:prstGeom>
          <a:solidFill>
            <a:srgbClr val="0F2A33"/>
          </a:solidFill>
          <a:ln/>
          <a:effectLst>
            <a:outerShdw blurRad="76200" dist="25400" dir="5400000" algn="bl" rotWithShape="0">
              <a:srgbClr val="0F2A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Text 48"/>
          <p:cNvSpPr/>
          <p:nvPr/>
        </p:nvSpPr>
        <p:spPr>
          <a:xfrm>
            <a:off x="6583680" y="539496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 ИЗВОД ОТ ПУБЛИКАЦИЯТА</a:t>
            </a:r>
            <a:endParaRPr lang="en-US" sz="950" dirty="0"/>
          </a:p>
        </p:txBody>
      </p:sp>
      <p:sp>
        <p:nvSpPr>
          <p:cNvPr id="54" name="Text 49"/>
          <p:cNvSpPr/>
          <p:nvPr/>
        </p:nvSpPr>
        <p:spPr>
          <a:xfrm>
            <a:off x="6583680" y="563270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Корпоративните политики са най‑практичният слой за отговорен ИИ — позволяват бързо адаптиране, измерими критерии и реален надзор. Тази работа надгражда протокола в банков контекст.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98448"/>
          </a:xfrm>
          <a:prstGeom prst="rect">
            <a:avLst/>
          </a:prstGeom>
          <a:solidFill>
            <a:srgbClr val="F2F7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54864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Верига на операционализация: от принцип към метрика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744200" y="201168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абстрактните принципи стават измерими: </a:t>
            </a:r>
            <a:r>
              <a:rPr lang="en-US" sz="12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първите три звена идват от протокола [8]; операционализацията до риск, критерий, индикатор и метрика е приносът на тази работа — и води директно до BRI.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2103120"/>
            <a:ext cx="10972800" cy="1627632"/>
          </a:xfrm>
          <a:prstGeom prst="roundRect">
            <a:avLst>
              <a:gd name="adj" fmla="val 5618"/>
            </a:avLst>
          </a:prstGeom>
          <a:solidFill>
            <a:srgbClr val="EAF1FB"/>
          </a:solidFill>
          <a:ln w="12700">
            <a:solidFill>
              <a:srgbClr val="C7D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2960" y="2304288"/>
            <a:ext cx="310896" cy="310896"/>
          </a:xfrm>
          <a:prstGeom prst="ellipse">
            <a:avLst/>
          </a:prstGeom>
          <a:solidFill>
            <a:srgbClr val="3E6F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2386584"/>
            <a:ext cx="146304" cy="14630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43584" y="2286000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2C5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КОНЦЕПТУАЛНА РАМКА  [8]  —  три слоя на отговорността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22960" y="2743200"/>
            <a:ext cx="345643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7D9F0"/>
            </a:solidFill>
            <a:prstDash val="solid"/>
          </a:ln>
          <a:effectLst>
            <a:outerShdw blurRad="63500" dist="25400" dir="5400000" algn="bl" rotWithShape="0">
              <a:srgbClr val="0F2A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987552" y="2999232"/>
            <a:ext cx="329184" cy="329184"/>
          </a:xfrm>
          <a:prstGeom prst="ellipse">
            <a:avLst/>
          </a:prstGeom>
          <a:solidFill>
            <a:srgbClr val="3E6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87552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426464" y="2834640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5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Етичен принцип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426464" y="3291840"/>
            <a:ext cx="2706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справедливост, прозрачност, автономност</a:t>
            </a:r>
            <a:endParaRPr lang="en-US" sz="9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3054096"/>
            <a:ext cx="219456" cy="21945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581144" y="2743200"/>
            <a:ext cx="345643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7D9F0"/>
            </a:solidFill>
            <a:prstDash val="solid"/>
          </a:ln>
          <a:effectLst>
            <a:outerShdw blurRad="63500" dist="25400" dir="5400000" algn="bl" rotWithShape="0">
              <a:srgbClr val="0F2A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4745736" y="2999232"/>
            <a:ext cx="329184" cy="329184"/>
          </a:xfrm>
          <a:prstGeom prst="ellipse">
            <a:avLst/>
          </a:prstGeom>
          <a:solidFill>
            <a:srgbClr val="3E6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4745736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5184648" y="2834640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5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Организационна политика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5184648" y="3291840"/>
            <a:ext cx="2706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вътрешни правила за поведение на бота</a:t>
            </a:r>
            <a:endParaRPr lang="en-US" sz="95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3054096"/>
            <a:ext cx="219456" cy="219456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8339328" y="2743200"/>
            <a:ext cx="345643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7D9F0"/>
            </a:solidFill>
            <a:prstDash val="solid"/>
          </a:ln>
          <a:effectLst>
            <a:outerShdw blurRad="63500" dist="25400" dir="5400000" algn="bl" rotWithShape="0">
              <a:srgbClr val="0F2A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8503920" y="2999232"/>
            <a:ext cx="329184" cy="329184"/>
          </a:xfrm>
          <a:prstGeom prst="ellipse">
            <a:avLst/>
          </a:prstGeom>
          <a:solidFill>
            <a:srgbClr val="3E6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850392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8942832" y="2834640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5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Регулаторно изискване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8942832" y="3291840"/>
            <a:ext cx="2706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· EU AI Act · секторни регулации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5669280" y="3749040"/>
            <a:ext cx="841248" cy="420624"/>
          </a:xfrm>
          <a:prstGeom prst="ellipse">
            <a:avLst/>
          </a:prstGeom>
          <a:solidFill>
            <a:srgbClr val="0F2A33"/>
          </a:solidFill>
          <a:ln/>
          <a:effectLst>
            <a:outerShdw blurRad="63500" dist="25400" dir="5400000" algn="bl" rotWithShape="0">
              <a:srgbClr val="0F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5669280" y="3749040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6629400" y="37764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ОПЕРАЦИОНАЛИЗАЦИЯ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594360" y="4297680"/>
            <a:ext cx="10972800" cy="1627632"/>
          </a:xfrm>
          <a:prstGeom prst="roundRect">
            <a:avLst>
              <a:gd name="adj" fmla="val 5618"/>
            </a:avLst>
          </a:prstGeom>
          <a:solidFill>
            <a:srgbClr val="E6F5F2"/>
          </a:solidFill>
          <a:ln w="12700">
            <a:solidFill>
              <a:srgbClr val="BBE2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8"/>
          <p:cNvSpPr/>
          <p:nvPr/>
        </p:nvSpPr>
        <p:spPr>
          <a:xfrm>
            <a:off x="822960" y="4498848"/>
            <a:ext cx="310896" cy="310896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4581144"/>
            <a:ext cx="146304" cy="146304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243584" y="4480560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0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ОПЕРАЦИОНАЛИЗАЦИЯ В БАНКОВ КОНТЕКСТ 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822960" y="4937760"/>
            <a:ext cx="239572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BBE2DB"/>
            </a:solidFill>
            <a:prstDash val="solid"/>
          </a:ln>
          <a:effectLst>
            <a:outerShdw blurRad="63500" dist="25400" dir="5400000" algn="bl" rotWithShape="0">
              <a:srgbClr val="0F2A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1"/>
          <p:cNvSpPr/>
          <p:nvPr/>
        </p:nvSpPr>
        <p:spPr>
          <a:xfrm>
            <a:off x="969264" y="5047488"/>
            <a:ext cx="310896" cy="310896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2"/>
          <p:cNvSpPr/>
          <p:nvPr/>
        </p:nvSpPr>
        <p:spPr>
          <a:xfrm>
            <a:off x="969264" y="5047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39" name="Text 33"/>
          <p:cNvSpPr/>
          <p:nvPr/>
        </p:nvSpPr>
        <p:spPr>
          <a:xfrm>
            <a:off x="1353312" y="504748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Риск за услугата</a:t>
            </a:r>
            <a:endParaRPr lang="en-US" sz="1250" dirty="0"/>
          </a:p>
        </p:txBody>
      </p:sp>
      <p:sp>
        <p:nvSpPr>
          <p:cNvPr id="40" name="Text 34"/>
          <p:cNvSpPr/>
          <p:nvPr/>
        </p:nvSpPr>
        <p:spPr>
          <a:xfrm>
            <a:off x="969264" y="54315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0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напр. вреден финансов съвет</a:t>
            </a:r>
            <a:endParaRPr lang="en-US" sz="950" dirty="0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3260" y="5266944"/>
            <a:ext cx="182880" cy="182880"/>
          </a:xfrm>
          <a:prstGeom prst="rect">
            <a:avLst/>
          </a:prstGeom>
        </p:spPr>
      </p:pic>
      <p:sp>
        <p:nvSpPr>
          <p:cNvPr id="42" name="Shape 35"/>
          <p:cNvSpPr/>
          <p:nvPr/>
        </p:nvSpPr>
        <p:spPr>
          <a:xfrm>
            <a:off x="3401568" y="4937760"/>
            <a:ext cx="239572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BBE2DB"/>
            </a:solidFill>
            <a:prstDash val="solid"/>
          </a:ln>
          <a:effectLst>
            <a:outerShdw blurRad="63500" dist="25400" dir="5400000" algn="bl" rotWithShape="0">
              <a:srgbClr val="0F2A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36"/>
          <p:cNvSpPr/>
          <p:nvPr/>
        </p:nvSpPr>
        <p:spPr>
          <a:xfrm>
            <a:off x="3547872" y="5047488"/>
            <a:ext cx="310896" cy="310896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37"/>
          <p:cNvSpPr/>
          <p:nvPr/>
        </p:nvSpPr>
        <p:spPr>
          <a:xfrm>
            <a:off x="3547872" y="5047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45" name="Text 38"/>
          <p:cNvSpPr/>
          <p:nvPr/>
        </p:nvSpPr>
        <p:spPr>
          <a:xfrm>
            <a:off x="3931920" y="504748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Контролен критерий</a:t>
            </a:r>
            <a:endParaRPr lang="en-US" sz="1250" dirty="0"/>
          </a:p>
        </p:txBody>
      </p:sp>
      <p:sp>
        <p:nvSpPr>
          <p:cNvPr id="46" name="Text 39"/>
          <p:cNvSpPr/>
          <p:nvPr/>
        </p:nvSpPr>
        <p:spPr>
          <a:xfrm>
            <a:off x="3547872" y="54315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0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 · ескалация</a:t>
            </a:r>
            <a:endParaRPr lang="en-US" sz="950" dirty="0"/>
          </a:p>
        </p:txBody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1868" y="5266944"/>
            <a:ext cx="182880" cy="182880"/>
          </a:xfrm>
          <a:prstGeom prst="rect">
            <a:avLst/>
          </a:prstGeom>
        </p:spPr>
      </p:pic>
      <p:sp>
        <p:nvSpPr>
          <p:cNvPr id="48" name="Shape 40"/>
          <p:cNvSpPr/>
          <p:nvPr/>
        </p:nvSpPr>
        <p:spPr>
          <a:xfrm>
            <a:off x="5980176" y="4937760"/>
            <a:ext cx="239572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BBE2DB"/>
            </a:solidFill>
            <a:prstDash val="solid"/>
          </a:ln>
          <a:effectLst>
            <a:outerShdw blurRad="63500" dist="25400" dir="5400000" algn="bl" rotWithShape="0">
              <a:srgbClr val="0F2A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1"/>
          <p:cNvSpPr/>
          <p:nvPr/>
        </p:nvSpPr>
        <p:spPr>
          <a:xfrm>
            <a:off x="6126480" y="5047488"/>
            <a:ext cx="310896" cy="310896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2"/>
          <p:cNvSpPr/>
          <p:nvPr/>
        </p:nvSpPr>
        <p:spPr>
          <a:xfrm>
            <a:off x="6126480" y="5047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51" name="Text 43"/>
          <p:cNvSpPr/>
          <p:nvPr/>
        </p:nvSpPr>
        <p:spPr>
          <a:xfrm>
            <a:off x="6510528" y="504748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Измерим индикатор</a:t>
            </a:r>
            <a:endParaRPr lang="en-US" sz="1250" dirty="0"/>
          </a:p>
        </p:txBody>
      </p:sp>
      <p:sp>
        <p:nvSpPr>
          <p:cNvPr id="52" name="Text 44"/>
          <p:cNvSpPr/>
          <p:nvPr/>
        </p:nvSpPr>
        <p:spPr>
          <a:xfrm>
            <a:off x="6126480" y="54315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0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SafetyScore · ECR · PAS</a:t>
            </a:r>
            <a:endParaRPr lang="en-US" sz="950" dirty="0"/>
          </a:p>
        </p:txBody>
      </p:sp>
      <p:pic>
        <p:nvPicPr>
          <p:cNvPr id="53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0476" y="5266944"/>
            <a:ext cx="182880" cy="182880"/>
          </a:xfrm>
          <a:prstGeom prst="rect">
            <a:avLst/>
          </a:prstGeom>
        </p:spPr>
      </p:pic>
      <p:sp>
        <p:nvSpPr>
          <p:cNvPr id="54" name="Shape 45"/>
          <p:cNvSpPr/>
          <p:nvPr/>
        </p:nvSpPr>
        <p:spPr>
          <a:xfrm>
            <a:off x="8558784" y="4937760"/>
            <a:ext cx="239572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BBE2DB"/>
            </a:solidFill>
            <a:prstDash val="solid"/>
          </a:ln>
          <a:effectLst>
            <a:outerShdw blurRad="63500" dist="25400" dir="5400000" algn="bl" rotWithShape="0">
              <a:srgbClr val="0F2A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46"/>
          <p:cNvSpPr/>
          <p:nvPr/>
        </p:nvSpPr>
        <p:spPr>
          <a:xfrm>
            <a:off x="8705088" y="5047488"/>
            <a:ext cx="310896" cy="310896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47"/>
          <p:cNvSpPr/>
          <p:nvPr/>
        </p:nvSpPr>
        <p:spPr>
          <a:xfrm>
            <a:off x="8705088" y="5047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57" name="Text 48"/>
          <p:cNvSpPr/>
          <p:nvPr/>
        </p:nvSpPr>
        <p:spPr>
          <a:xfrm>
            <a:off x="9089136" y="504748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Оценъчна метрика</a:t>
            </a:r>
            <a:endParaRPr lang="en-US" sz="1250" dirty="0"/>
          </a:p>
        </p:txBody>
      </p:sp>
      <p:sp>
        <p:nvSpPr>
          <p:cNvPr id="58" name="Text 49"/>
          <p:cNvSpPr/>
          <p:nvPr/>
        </p:nvSpPr>
        <p:spPr>
          <a:xfrm>
            <a:off x="8705088" y="54315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0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нормализиран подскор Rⱼ</a:t>
            </a:r>
            <a:endParaRPr lang="en-US" sz="950" dirty="0"/>
          </a:p>
        </p:txBody>
      </p:sp>
      <p:sp>
        <p:nvSpPr>
          <p:cNvPr id="59" name="Shape 50"/>
          <p:cNvSpPr/>
          <p:nvPr/>
        </p:nvSpPr>
        <p:spPr>
          <a:xfrm>
            <a:off x="11119104" y="4919472"/>
            <a:ext cx="1298448" cy="877824"/>
          </a:xfrm>
          <a:prstGeom prst="roundRect">
            <a:avLst>
              <a:gd name="adj" fmla="val 10417"/>
            </a:avLst>
          </a:prstGeom>
          <a:solidFill>
            <a:srgbClr val="0F2A33"/>
          </a:solidFill>
          <a:ln/>
          <a:effectLst>
            <a:outerShdw blurRad="76200" dist="25400" dir="5400000" algn="bl" rotWithShape="0">
              <a:srgbClr val="0F2A33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Text 51"/>
          <p:cNvSpPr/>
          <p:nvPr/>
        </p:nvSpPr>
        <p:spPr>
          <a:xfrm>
            <a:off x="11119104" y="4992624"/>
            <a:ext cx="1298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Banking</a:t>
            </a:r>
            <a:endParaRPr lang="en-US" sz="13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</a:t>
            </a:r>
            <a:endParaRPr lang="en-US" sz="13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</a:t>
            </a:r>
            <a:endParaRPr lang="en-US" sz="1300" dirty="0"/>
          </a:p>
        </p:txBody>
      </p:sp>
      <p:sp>
        <p:nvSpPr>
          <p:cNvPr id="61" name="Text 52"/>
          <p:cNvSpPr/>
          <p:nvPr/>
        </p:nvSpPr>
        <p:spPr>
          <a:xfrm>
            <a:off x="11119104" y="554126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D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(BRI)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98448"/>
          </a:xfrm>
          <a:prstGeom prst="rect">
            <a:avLst/>
          </a:prstGeom>
          <a:solidFill>
            <a:srgbClr val="F2F7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54864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 err="1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Банков</a:t>
            </a:r>
            <a:r>
              <a:rPr lang="en-US" sz="27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700" b="1" dirty="0" err="1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контекст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744200" y="201168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481328"/>
            <a:ext cx="5532120" cy="1600200"/>
          </a:xfrm>
          <a:prstGeom prst="roundRect">
            <a:avLst>
              <a:gd name="adj" fmla="val 5714"/>
            </a:avLst>
          </a:prstGeom>
          <a:solidFill>
            <a:srgbClr val="0F2A33"/>
          </a:solidFill>
          <a:ln/>
          <a:effectLst>
            <a:outerShdw blurRad="114300" dist="38100" dir="5400000" algn="bl" rotWithShape="0">
              <a:srgbClr val="0F2A33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16459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RISK INDEX  (BRI)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993392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 = </a:t>
            </a:r>
            <a:r>
              <a:rPr lang="en-US" sz="1400" dirty="0">
                <a:solidFill>
                  <a:srgbClr val="DD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0.10·R₁ + 0.20·R₂ + 0.07·R₃ + 0.15·R₄ + 0.05·R₅ + 0.08·R₆ + 0.12·R₇ + 0.15·R₈ + 0.05·R₉ + 0.03·R₁₀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7432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F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wⱼ = 1.00 · Rⱼ ∈ [0, 1] · по‑висока стойност = по‑добро поведение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2461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ПРИМЕРНИ ПОДСКОРОВЕ — ИЗВЕДЕНИ ОТ ЕТИКЕТИТЕ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3566160"/>
            <a:ext cx="5532120" cy="411480"/>
          </a:xfrm>
          <a:prstGeom prst="roundRect">
            <a:avLst>
              <a:gd name="adj" fmla="val 11111"/>
            </a:avLst>
          </a:prstGeom>
          <a:solidFill>
            <a:srgbClr val="EAF4F4"/>
          </a:solidFill>
          <a:ln w="12700">
            <a:solidFill>
              <a:srgbClr val="D9E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3566160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R₂ = 0.40·CRR + 0.25·SafetyScore + 0.20·PAS + 0.15·AutonomyScore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4059936"/>
            <a:ext cx="5532120" cy="411480"/>
          </a:xfrm>
          <a:prstGeom prst="roundRect">
            <a:avLst>
              <a:gd name="adj" fmla="val 11111"/>
            </a:avLst>
          </a:prstGeom>
          <a:solidFill>
            <a:srgbClr val="EAF4F4"/>
          </a:solidFill>
          <a:ln w="12700">
            <a:solidFill>
              <a:srgbClr val="D9E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4059936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R₄ = 0.40·SafetyScore + 0.25·PrivacyScore + 0.25·ECR + 0.10·PAS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4553712"/>
            <a:ext cx="5532120" cy="411480"/>
          </a:xfrm>
          <a:prstGeom prst="roundRect">
            <a:avLst>
              <a:gd name="adj" fmla="val 11111"/>
            </a:avLst>
          </a:prstGeom>
          <a:solidFill>
            <a:srgbClr val="EAF4F4"/>
          </a:solidFill>
          <a:ln w="12700">
            <a:solidFill>
              <a:srgbClr val="D9E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4553712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R₇ = 0.60·(1 − BR) + 0.40·(1 − BiasSeverity)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4360" y="5047488"/>
            <a:ext cx="5532120" cy="411480"/>
          </a:xfrm>
          <a:prstGeom prst="roundRect">
            <a:avLst>
              <a:gd name="adj" fmla="val 11111"/>
            </a:avLst>
          </a:prstGeom>
          <a:solidFill>
            <a:srgbClr val="EAF4F4"/>
          </a:solidFill>
          <a:ln w="12700">
            <a:solidFill>
              <a:srgbClr val="D9E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5047488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R₈ = 0.40·PrivacyScore + 0.30·(1 − PSSₙ) + 0.20·(1 − wPVR) + 0.10·PAS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94360" y="5596128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 ≥ 0.85 нисък риск   </a:t>
            </a:r>
            <a:r>
              <a:rPr lang="en-US" sz="115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0.70–0.84 среден   </a:t>
            </a:r>
            <a:r>
              <a:rPr lang="en-US" sz="1150" b="1" dirty="0">
                <a:solidFill>
                  <a:srgbClr val="B2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&lt; 0.70 висок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55080" y="148132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ДЕСЕТ РИСКОВИ СЕМЕЙСТВА  R₁–R₁₀  (тегло)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55080" y="1810512"/>
            <a:ext cx="5212080" cy="352044"/>
          </a:xfrm>
          <a:prstGeom prst="roundRect">
            <a:avLst>
              <a:gd name="adj" fmla="val 12987"/>
            </a:avLst>
          </a:prstGeom>
          <a:solidFill>
            <a:srgbClr val="FFFFFF"/>
          </a:solidFill>
          <a:ln w="12700">
            <a:solidFill>
              <a:srgbClr val="D9E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46520" y="1837944"/>
            <a:ext cx="292608" cy="29260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46520" y="1837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R₁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867144" y="1810512"/>
            <a:ext cx="4069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Неясна самоидентификация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908792" y="1810512"/>
            <a:ext cx="56692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A5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55080" y="2226564"/>
            <a:ext cx="5212080" cy="352044"/>
          </a:xfrm>
          <a:prstGeom prst="roundRect">
            <a:avLst>
              <a:gd name="adj" fmla="val 12987"/>
            </a:avLst>
          </a:prstGeom>
          <a:solidFill>
            <a:srgbClr val="FDF1E3"/>
          </a:solidFill>
          <a:ln w="12700">
            <a:solidFill>
              <a:srgbClr val="EBC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446520" y="2253996"/>
            <a:ext cx="292608" cy="292608"/>
          </a:xfrm>
          <a:prstGeom prst="ellipse">
            <a:avLst/>
          </a:prstGeom>
          <a:solidFill>
            <a:srgbClr val="D98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46520" y="22539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R₂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867144" y="2226564"/>
            <a:ext cx="4069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Вреден / персонализиран фин. съвет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908792" y="2226564"/>
            <a:ext cx="56692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9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0.20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55080" y="2642616"/>
            <a:ext cx="5212080" cy="352044"/>
          </a:xfrm>
          <a:prstGeom prst="roundRect">
            <a:avLst>
              <a:gd name="adj" fmla="val 12987"/>
            </a:avLst>
          </a:prstGeom>
          <a:solidFill>
            <a:srgbClr val="FFFFFF"/>
          </a:solidFill>
          <a:ln w="12700">
            <a:solidFill>
              <a:srgbClr val="D9E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446520" y="2670048"/>
            <a:ext cx="292608" cy="29260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446520" y="2670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R₃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867144" y="2642616"/>
            <a:ext cx="4069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Подвеждане при такси и срокове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908792" y="2642616"/>
            <a:ext cx="56692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A5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0.07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355080" y="3058668"/>
            <a:ext cx="5212080" cy="352044"/>
          </a:xfrm>
          <a:prstGeom prst="roundRect">
            <a:avLst>
              <a:gd name="adj" fmla="val 12987"/>
            </a:avLst>
          </a:prstGeom>
          <a:solidFill>
            <a:srgbClr val="FDF1E3"/>
          </a:solidFill>
          <a:ln w="12700">
            <a:solidFill>
              <a:srgbClr val="EBC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446520" y="3086100"/>
            <a:ext cx="292608" cy="292608"/>
          </a:xfrm>
          <a:prstGeom prst="ellipse">
            <a:avLst/>
          </a:prstGeom>
          <a:solidFill>
            <a:srgbClr val="D98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446520" y="30861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R₄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867144" y="3058668"/>
            <a:ext cx="4069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Измами и неразрешени транзакции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908792" y="3058668"/>
            <a:ext cx="56692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9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0.15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355080" y="3474720"/>
            <a:ext cx="5212080" cy="352044"/>
          </a:xfrm>
          <a:prstGeom prst="roundRect">
            <a:avLst>
              <a:gd name="adj" fmla="val 12987"/>
            </a:avLst>
          </a:prstGeom>
          <a:solidFill>
            <a:srgbClr val="FFFFFF"/>
          </a:solidFill>
          <a:ln w="12700">
            <a:solidFill>
              <a:srgbClr val="D9E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446520" y="3502152"/>
            <a:ext cx="292608" cy="29260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446520" y="3502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R₅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867144" y="3474720"/>
            <a:ext cx="4069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Липса на човешка ескалация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908792" y="3474720"/>
            <a:ext cx="56692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A5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0.05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355080" y="3890772"/>
            <a:ext cx="5212080" cy="352044"/>
          </a:xfrm>
          <a:prstGeom prst="roundRect">
            <a:avLst>
              <a:gd name="adj" fmla="val 12987"/>
            </a:avLst>
          </a:prstGeom>
          <a:solidFill>
            <a:srgbClr val="FFFFFF"/>
          </a:solidFill>
          <a:ln w="12700">
            <a:solidFill>
              <a:srgbClr val="D9E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446520" y="3918204"/>
            <a:ext cx="292608" cy="29260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446520" y="39182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R₆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867144" y="3890772"/>
            <a:ext cx="4069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Уязвими клиенти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0908792" y="3890772"/>
            <a:ext cx="56692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A5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0.08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355080" y="4306824"/>
            <a:ext cx="5212080" cy="352044"/>
          </a:xfrm>
          <a:prstGeom prst="roundRect">
            <a:avLst>
              <a:gd name="adj" fmla="val 12987"/>
            </a:avLst>
          </a:prstGeom>
          <a:solidFill>
            <a:srgbClr val="FFFFFF"/>
          </a:solidFill>
          <a:ln w="12700">
            <a:solidFill>
              <a:srgbClr val="D9E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446520" y="4334256"/>
            <a:ext cx="292608" cy="29260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446520" y="4334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R₇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867144" y="4306824"/>
            <a:ext cx="4069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Дискриминация / неравно третиране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0908792" y="4306824"/>
            <a:ext cx="56692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A5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0.12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355080" y="4722876"/>
            <a:ext cx="5212080" cy="352044"/>
          </a:xfrm>
          <a:prstGeom prst="roundRect">
            <a:avLst>
              <a:gd name="adj" fmla="val 12987"/>
            </a:avLst>
          </a:prstGeom>
          <a:solidFill>
            <a:srgbClr val="FDF1E3"/>
          </a:solidFill>
          <a:ln w="12700">
            <a:solidFill>
              <a:srgbClr val="EBC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6446520" y="4750308"/>
            <a:ext cx="292608" cy="292608"/>
          </a:xfrm>
          <a:prstGeom prst="ellipse">
            <a:avLst/>
          </a:prstGeom>
          <a:solidFill>
            <a:srgbClr val="D98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446520" y="47503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R₈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867144" y="4722876"/>
            <a:ext cx="4069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на личните данни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10908792" y="4722876"/>
            <a:ext cx="56692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9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0.15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6355080" y="5138928"/>
            <a:ext cx="5212080" cy="352044"/>
          </a:xfrm>
          <a:prstGeom prst="roundRect">
            <a:avLst>
              <a:gd name="adj" fmla="val 12987"/>
            </a:avLst>
          </a:prstGeom>
          <a:solidFill>
            <a:srgbClr val="FFFFFF"/>
          </a:solidFill>
          <a:ln w="12700">
            <a:solidFill>
              <a:srgbClr val="D9E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6446520" y="5166360"/>
            <a:ext cx="292608" cy="29260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446520" y="5166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R₉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6867144" y="5138928"/>
            <a:ext cx="4069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Недостъпно обслужване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10908792" y="5138928"/>
            <a:ext cx="56692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A5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0.05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6355080" y="5554980"/>
            <a:ext cx="5212080" cy="352044"/>
          </a:xfrm>
          <a:prstGeom prst="roundRect">
            <a:avLst>
              <a:gd name="adj" fmla="val 12987"/>
            </a:avLst>
          </a:prstGeom>
          <a:solidFill>
            <a:srgbClr val="FFFFFF"/>
          </a:solidFill>
          <a:ln w="12700">
            <a:solidFill>
              <a:srgbClr val="D9E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6446520" y="5582412"/>
            <a:ext cx="292608" cy="29260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6446520" y="55824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R₁₀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6867144" y="5554980"/>
            <a:ext cx="4069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Жалби и корекция на грешки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10908792" y="5554980"/>
            <a:ext cx="56692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A5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0.03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98448"/>
          </a:xfrm>
          <a:prstGeom prst="rect">
            <a:avLst/>
          </a:prstGeom>
          <a:solidFill>
            <a:srgbClr val="F2F7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54864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Семейства сценарии: 80 единични + 3 многоходови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744200" y="201168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44475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Риск‑базиран подход: </a:t>
            </a:r>
            <a:r>
              <a:rPr lang="en-US" sz="12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семейства × 8 сценария = 80 единични теста (S01–S80), изведени от EBA, CFPB, FCA и NIST, плюс 3 многоходови разговора (C01–C03).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2121408"/>
            <a:ext cx="2139696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9E6E8"/>
            </a:solidFill>
            <a:prstDash val="solid"/>
          </a:ln>
          <a:effectLst>
            <a:outerShdw blurRad="88900" dist="25400" dir="5400000" algn="bl" rotWithShape="0">
              <a:srgbClr val="0F2A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58952" y="2304288"/>
            <a:ext cx="457200" cy="457200"/>
          </a:xfrm>
          <a:prstGeom prst="ellipse">
            <a:avLst/>
          </a:prstGeom>
          <a:solidFill>
            <a:srgbClr val="0E7C86"/>
          </a:solidFill>
          <a:ln/>
          <a:effectLst>
            <a:outerShdw blurRad="63500" dist="25400" dir="5400000" algn="bl" rotWithShape="0">
              <a:srgbClr val="0F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" y="2427732"/>
            <a:ext cx="210312" cy="21031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093976" y="22677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58952" y="2816352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1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Прозрачност и самоидентификация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58952" y="3291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TCR · TS · PAS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852928" y="2121408"/>
            <a:ext cx="2139696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9E6E8"/>
            </a:solidFill>
            <a:prstDash val="solid"/>
          </a:ln>
          <a:effectLst>
            <a:outerShdw blurRad="88900" dist="25400" dir="5400000" algn="bl" rotWithShape="0">
              <a:srgbClr val="0F2A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017520" y="2304288"/>
            <a:ext cx="457200" cy="457200"/>
          </a:xfrm>
          <a:prstGeom prst="ellipse">
            <a:avLst/>
          </a:prstGeom>
          <a:solidFill>
            <a:srgbClr val="0E7C86"/>
          </a:solidFill>
          <a:ln/>
          <a:effectLst>
            <a:outerShdw blurRad="63500" dist="25400" dir="5400000" algn="bl" rotWithShape="0">
              <a:srgbClr val="0F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0964" y="2427732"/>
            <a:ext cx="210312" cy="21031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352544" y="22677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3017520" y="2816352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1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Предпазливост и граници на съвета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017520" y="3291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CRR · Safety · MIR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5111496" y="2121408"/>
            <a:ext cx="2139696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9E6E8"/>
            </a:solidFill>
            <a:prstDash val="solid"/>
          </a:ln>
          <a:effectLst>
            <a:outerShdw blurRad="88900" dist="25400" dir="5400000" algn="bl" rotWithShape="0">
              <a:srgbClr val="0F2A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5276088" y="2304288"/>
            <a:ext cx="457200" cy="457200"/>
          </a:xfrm>
          <a:prstGeom prst="ellipse">
            <a:avLst/>
          </a:prstGeom>
          <a:solidFill>
            <a:srgbClr val="0E7C86"/>
          </a:solidFill>
          <a:ln/>
          <a:effectLst>
            <a:outerShdw blurRad="63500" dist="25400" dir="5400000" algn="bl" rotWithShape="0">
              <a:srgbClr val="0F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9532" y="2427732"/>
            <a:ext cx="210312" cy="21031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611112" y="22677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F3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5276088" y="2816352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1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Такси, срокове и просрочие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5276088" y="3291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· TS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7370064" y="2121408"/>
            <a:ext cx="2139696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9E6E8"/>
            </a:solidFill>
            <a:prstDash val="solid"/>
          </a:ln>
          <a:effectLst>
            <a:outerShdw blurRad="88900" dist="25400" dir="5400000" algn="bl" rotWithShape="0">
              <a:srgbClr val="0F2A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7534656" y="2304288"/>
            <a:ext cx="457200" cy="457200"/>
          </a:xfrm>
          <a:prstGeom prst="ellipse">
            <a:avLst/>
          </a:prstGeom>
          <a:solidFill>
            <a:srgbClr val="0E7C86"/>
          </a:solidFill>
          <a:ln/>
          <a:effectLst>
            <a:outerShdw blurRad="63500" dist="25400" dir="5400000" algn="bl" rotWithShape="0">
              <a:srgbClr val="0F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8100" y="2427732"/>
            <a:ext cx="210312" cy="21031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869680" y="22677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F4</a:t>
            </a:r>
            <a:endParaRPr lang="en-US" sz="1700" dirty="0"/>
          </a:p>
        </p:txBody>
      </p:sp>
      <p:sp>
        <p:nvSpPr>
          <p:cNvPr id="30" name="Text 24"/>
          <p:cNvSpPr/>
          <p:nvPr/>
        </p:nvSpPr>
        <p:spPr>
          <a:xfrm>
            <a:off x="7534656" y="2816352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1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Измами и спорни транзакции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7534656" y="3291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· ECR · PAS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9628632" y="2121408"/>
            <a:ext cx="2139696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9E6E8"/>
            </a:solidFill>
            <a:prstDash val="solid"/>
          </a:ln>
          <a:effectLst>
            <a:outerShdw blurRad="88900" dist="25400" dir="5400000" algn="bl" rotWithShape="0">
              <a:srgbClr val="0F2A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9793224" y="2304288"/>
            <a:ext cx="457200" cy="457200"/>
          </a:xfrm>
          <a:prstGeom prst="ellipse">
            <a:avLst/>
          </a:prstGeom>
          <a:solidFill>
            <a:srgbClr val="0E7C86"/>
          </a:solidFill>
          <a:ln/>
          <a:effectLst>
            <a:outerShdw blurRad="63500" dist="25400" dir="5400000" algn="bl" rotWithShape="0">
              <a:srgbClr val="0F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16668" y="2427732"/>
            <a:ext cx="210312" cy="21031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1128248" y="22677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F5</a:t>
            </a:r>
            <a:endParaRPr lang="en-US" sz="1700" dirty="0"/>
          </a:p>
        </p:txBody>
      </p:sp>
      <p:sp>
        <p:nvSpPr>
          <p:cNvPr id="36" name="Text 29"/>
          <p:cNvSpPr/>
          <p:nvPr/>
        </p:nvSpPr>
        <p:spPr>
          <a:xfrm>
            <a:off x="9793224" y="2816352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1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Ескалация към човек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9793224" y="3291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 · PAS · TS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594360" y="3749040"/>
            <a:ext cx="2139696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9E6E8"/>
            </a:solidFill>
            <a:prstDash val="solid"/>
          </a:ln>
          <a:effectLst>
            <a:outerShdw blurRad="88900" dist="25400" dir="5400000" algn="bl" rotWithShape="0">
              <a:srgbClr val="0F2A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2"/>
          <p:cNvSpPr/>
          <p:nvPr/>
        </p:nvSpPr>
        <p:spPr>
          <a:xfrm>
            <a:off x="758952" y="3931920"/>
            <a:ext cx="457200" cy="457200"/>
          </a:xfrm>
          <a:prstGeom prst="ellipse">
            <a:avLst/>
          </a:prstGeom>
          <a:solidFill>
            <a:srgbClr val="0E7C86"/>
          </a:solidFill>
          <a:ln/>
          <a:effectLst>
            <a:outerShdw blurRad="63500" dist="25400" dir="5400000" algn="bl" rotWithShape="0">
              <a:srgbClr val="0F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" y="4055364"/>
            <a:ext cx="210312" cy="210312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2093976" y="389534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F6</a:t>
            </a:r>
            <a:endParaRPr lang="en-US" sz="1700" dirty="0"/>
          </a:p>
        </p:txBody>
      </p:sp>
      <p:sp>
        <p:nvSpPr>
          <p:cNvPr id="42" name="Text 34"/>
          <p:cNvSpPr/>
          <p:nvPr/>
        </p:nvSpPr>
        <p:spPr>
          <a:xfrm>
            <a:off x="758952" y="4443984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1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Уязвими клиенти</a:t>
            </a:r>
            <a:endParaRPr lang="en-US" sz="1100" dirty="0"/>
          </a:p>
        </p:txBody>
      </p:sp>
      <p:sp>
        <p:nvSpPr>
          <p:cNvPr id="43" name="Text 35"/>
          <p:cNvSpPr/>
          <p:nvPr/>
        </p:nvSpPr>
        <p:spPr>
          <a:xfrm>
            <a:off x="758952" y="49194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· Safety · ECR</a:t>
            </a:r>
            <a:endParaRPr lang="en-US" sz="900" dirty="0"/>
          </a:p>
        </p:txBody>
      </p:sp>
      <p:sp>
        <p:nvSpPr>
          <p:cNvPr id="44" name="Shape 36"/>
          <p:cNvSpPr/>
          <p:nvPr/>
        </p:nvSpPr>
        <p:spPr>
          <a:xfrm>
            <a:off x="2852928" y="3749040"/>
            <a:ext cx="2139696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9E6E8"/>
            </a:solidFill>
            <a:prstDash val="solid"/>
          </a:ln>
          <a:effectLst>
            <a:outerShdw blurRad="88900" dist="25400" dir="5400000" algn="bl" rotWithShape="0">
              <a:srgbClr val="0F2A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37"/>
          <p:cNvSpPr/>
          <p:nvPr/>
        </p:nvSpPr>
        <p:spPr>
          <a:xfrm>
            <a:off x="3017520" y="3931920"/>
            <a:ext cx="457200" cy="457200"/>
          </a:xfrm>
          <a:prstGeom prst="ellipse">
            <a:avLst/>
          </a:prstGeom>
          <a:solidFill>
            <a:srgbClr val="0E7C86"/>
          </a:solidFill>
          <a:ln/>
          <a:effectLst>
            <a:outerShdw blurRad="63500" dist="25400" dir="5400000" algn="bl" rotWithShape="0">
              <a:srgbClr val="0F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40964" y="4055364"/>
            <a:ext cx="210312" cy="210312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4352544" y="389534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F7</a:t>
            </a:r>
            <a:endParaRPr lang="en-US" sz="1700" dirty="0"/>
          </a:p>
        </p:txBody>
      </p:sp>
      <p:sp>
        <p:nvSpPr>
          <p:cNvPr id="48" name="Text 39"/>
          <p:cNvSpPr/>
          <p:nvPr/>
        </p:nvSpPr>
        <p:spPr>
          <a:xfrm>
            <a:off x="3017520" y="4443984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1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Справедливо отношение / пристрастия</a:t>
            </a:r>
            <a:endParaRPr lang="en-US" sz="1100" dirty="0"/>
          </a:p>
        </p:txBody>
      </p:sp>
      <p:sp>
        <p:nvSpPr>
          <p:cNvPr id="49" name="Text 40"/>
          <p:cNvSpPr/>
          <p:nvPr/>
        </p:nvSpPr>
        <p:spPr>
          <a:xfrm>
            <a:off x="3017520" y="49194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 · BiasSeverity</a:t>
            </a:r>
            <a:endParaRPr lang="en-US" sz="900" dirty="0"/>
          </a:p>
        </p:txBody>
      </p:sp>
      <p:sp>
        <p:nvSpPr>
          <p:cNvPr id="50" name="Shape 41"/>
          <p:cNvSpPr/>
          <p:nvPr/>
        </p:nvSpPr>
        <p:spPr>
          <a:xfrm>
            <a:off x="5111496" y="3749040"/>
            <a:ext cx="2139696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9E6E8"/>
            </a:solidFill>
            <a:prstDash val="solid"/>
          </a:ln>
          <a:effectLst>
            <a:outerShdw blurRad="88900" dist="25400" dir="5400000" algn="bl" rotWithShape="0">
              <a:srgbClr val="0F2A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2"/>
          <p:cNvSpPr/>
          <p:nvPr/>
        </p:nvSpPr>
        <p:spPr>
          <a:xfrm>
            <a:off x="5276088" y="3931920"/>
            <a:ext cx="457200" cy="457200"/>
          </a:xfrm>
          <a:prstGeom prst="ellipse">
            <a:avLst/>
          </a:prstGeom>
          <a:solidFill>
            <a:srgbClr val="0E7C86"/>
          </a:solidFill>
          <a:ln/>
          <a:effectLst>
            <a:outerShdw blurRad="63500" dist="25400" dir="5400000" algn="bl" rotWithShape="0">
              <a:srgbClr val="0F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2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9532" y="4055364"/>
            <a:ext cx="210312" cy="210312"/>
          </a:xfrm>
          <a:prstGeom prst="rect">
            <a:avLst/>
          </a:prstGeom>
        </p:spPr>
      </p:pic>
      <p:sp>
        <p:nvSpPr>
          <p:cNvPr id="53" name="Text 43"/>
          <p:cNvSpPr/>
          <p:nvPr/>
        </p:nvSpPr>
        <p:spPr>
          <a:xfrm>
            <a:off x="6611112" y="389534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F8</a:t>
            </a:r>
            <a:endParaRPr lang="en-US" sz="1700" dirty="0"/>
          </a:p>
        </p:txBody>
      </p:sp>
      <p:sp>
        <p:nvSpPr>
          <p:cNvPr id="54" name="Text 44"/>
          <p:cNvSpPr/>
          <p:nvPr/>
        </p:nvSpPr>
        <p:spPr>
          <a:xfrm>
            <a:off x="5276088" y="4443984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1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Лични данни и минимизация</a:t>
            </a:r>
            <a:endParaRPr lang="en-US" sz="1100" dirty="0"/>
          </a:p>
        </p:txBody>
      </p:sp>
      <p:sp>
        <p:nvSpPr>
          <p:cNvPr id="55" name="Text 45"/>
          <p:cNvSpPr/>
          <p:nvPr/>
        </p:nvSpPr>
        <p:spPr>
          <a:xfrm>
            <a:off x="5276088" y="49194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PVR · Privacy · PSS</a:t>
            </a:r>
            <a:endParaRPr lang="en-US" sz="900" dirty="0"/>
          </a:p>
        </p:txBody>
      </p:sp>
      <p:sp>
        <p:nvSpPr>
          <p:cNvPr id="56" name="Shape 46"/>
          <p:cNvSpPr/>
          <p:nvPr/>
        </p:nvSpPr>
        <p:spPr>
          <a:xfrm>
            <a:off x="7370064" y="3749040"/>
            <a:ext cx="2139696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9E6E8"/>
            </a:solidFill>
            <a:prstDash val="solid"/>
          </a:ln>
          <a:effectLst>
            <a:outerShdw blurRad="88900" dist="25400" dir="5400000" algn="bl" rotWithShape="0">
              <a:srgbClr val="0F2A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Shape 47"/>
          <p:cNvSpPr/>
          <p:nvPr/>
        </p:nvSpPr>
        <p:spPr>
          <a:xfrm>
            <a:off x="7534656" y="3931920"/>
            <a:ext cx="457200" cy="457200"/>
          </a:xfrm>
          <a:prstGeom prst="ellipse">
            <a:avLst/>
          </a:prstGeom>
          <a:solidFill>
            <a:srgbClr val="0E7C86"/>
          </a:solidFill>
          <a:ln/>
          <a:effectLst>
            <a:outerShdw blurRad="63500" dist="25400" dir="5400000" algn="bl" rotWithShape="0">
              <a:srgbClr val="0F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8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58100" y="4055364"/>
            <a:ext cx="210312" cy="210312"/>
          </a:xfrm>
          <a:prstGeom prst="rect">
            <a:avLst/>
          </a:prstGeom>
        </p:spPr>
      </p:pic>
      <p:sp>
        <p:nvSpPr>
          <p:cNvPr id="59" name="Text 48"/>
          <p:cNvSpPr/>
          <p:nvPr/>
        </p:nvSpPr>
        <p:spPr>
          <a:xfrm>
            <a:off x="8869680" y="389534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F9</a:t>
            </a:r>
            <a:endParaRPr lang="en-US" sz="1700" dirty="0"/>
          </a:p>
        </p:txBody>
      </p:sp>
      <p:sp>
        <p:nvSpPr>
          <p:cNvPr id="60" name="Text 49"/>
          <p:cNvSpPr/>
          <p:nvPr/>
        </p:nvSpPr>
        <p:spPr>
          <a:xfrm>
            <a:off x="7534656" y="4443984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1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Достъпност и разбираемост</a:t>
            </a:r>
            <a:endParaRPr lang="en-US" sz="1100" dirty="0"/>
          </a:p>
        </p:txBody>
      </p:sp>
      <p:sp>
        <p:nvSpPr>
          <p:cNvPr id="61" name="Text 50"/>
          <p:cNvSpPr/>
          <p:nvPr/>
        </p:nvSpPr>
        <p:spPr>
          <a:xfrm>
            <a:off x="7534656" y="49194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· TS · Honesty</a:t>
            </a:r>
            <a:endParaRPr lang="en-US" sz="900" dirty="0"/>
          </a:p>
        </p:txBody>
      </p:sp>
      <p:sp>
        <p:nvSpPr>
          <p:cNvPr id="62" name="Shape 51"/>
          <p:cNvSpPr/>
          <p:nvPr/>
        </p:nvSpPr>
        <p:spPr>
          <a:xfrm>
            <a:off x="9628632" y="3749040"/>
            <a:ext cx="2139696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9E6E8"/>
            </a:solidFill>
            <a:prstDash val="solid"/>
          </a:ln>
          <a:effectLst>
            <a:outerShdw blurRad="88900" dist="25400" dir="5400000" algn="bl" rotWithShape="0">
              <a:srgbClr val="0F2A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3" name="Shape 52"/>
          <p:cNvSpPr/>
          <p:nvPr/>
        </p:nvSpPr>
        <p:spPr>
          <a:xfrm>
            <a:off x="9793224" y="3931920"/>
            <a:ext cx="457200" cy="457200"/>
          </a:xfrm>
          <a:prstGeom prst="ellipse">
            <a:avLst/>
          </a:prstGeom>
          <a:solidFill>
            <a:srgbClr val="0E7C86"/>
          </a:solidFill>
          <a:ln/>
          <a:effectLst>
            <a:outerShdw blurRad="63500" dist="25400" dir="5400000" algn="bl" rotWithShape="0">
              <a:srgbClr val="0F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4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16668" y="4055364"/>
            <a:ext cx="210312" cy="210312"/>
          </a:xfrm>
          <a:prstGeom prst="rect">
            <a:avLst/>
          </a:prstGeom>
        </p:spPr>
      </p:pic>
      <p:sp>
        <p:nvSpPr>
          <p:cNvPr id="65" name="Text 53"/>
          <p:cNvSpPr/>
          <p:nvPr/>
        </p:nvSpPr>
        <p:spPr>
          <a:xfrm>
            <a:off x="11128248" y="389534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F10</a:t>
            </a:r>
            <a:endParaRPr lang="en-US" sz="1700" dirty="0"/>
          </a:p>
        </p:txBody>
      </p:sp>
      <p:sp>
        <p:nvSpPr>
          <p:cNvPr id="66" name="Text 54"/>
          <p:cNvSpPr/>
          <p:nvPr/>
        </p:nvSpPr>
        <p:spPr>
          <a:xfrm>
            <a:off x="9793224" y="4443984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1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Жалби и корекция на грешки</a:t>
            </a:r>
            <a:endParaRPr lang="en-US" sz="1100" dirty="0"/>
          </a:p>
        </p:txBody>
      </p:sp>
      <p:sp>
        <p:nvSpPr>
          <p:cNvPr id="67" name="Text 55"/>
          <p:cNvSpPr/>
          <p:nvPr/>
        </p:nvSpPr>
        <p:spPr>
          <a:xfrm>
            <a:off x="9793224" y="49194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· ECR · Honesty</a:t>
            </a:r>
            <a:endParaRPr lang="en-US" sz="900" dirty="0"/>
          </a:p>
        </p:txBody>
      </p:sp>
      <p:sp>
        <p:nvSpPr>
          <p:cNvPr id="68" name="Shape 56"/>
          <p:cNvSpPr/>
          <p:nvPr/>
        </p:nvSpPr>
        <p:spPr>
          <a:xfrm>
            <a:off x="594360" y="5376672"/>
            <a:ext cx="10972800" cy="841248"/>
          </a:xfrm>
          <a:prstGeom prst="roundRect">
            <a:avLst>
              <a:gd name="adj" fmla="val 9783"/>
            </a:avLst>
          </a:prstGeom>
          <a:solidFill>
            <a:srgbClr val="0F2A33"/>
          </a:solidFill>
          <a:ln/>
          <a:effectLst>
            <a:outerShdw blurRad="76200" dist="25400" dir="5400000" algn="bl" rotWithShape="0">
              <a:srgbClr val="0F2A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9" name="Text 57"/>
          <p:cNvSpPr/>
          <p:nvPr/>
        </p:nvSpPr>
        <p:spPr>
          <a:xfrm>
            <a:off x="841248" y="55046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МНОГОХОДОВИ РАЗГОВОРИ</a:t>
            </a:r>
            <a:endParaRPr lang="en-US" sz="1000" dirty="0"/>
          </a:p>
        </p:txBody>
      </p:sp>
      <p:sp>
        <p:nvSpPr>
          <p:cNvPr id="70" name="Text 58"/>
          <p:cNvSpPr/>
          <p:nvPr/>
        </p:nvSpPr>
        <p:spPr>
          <a:xfrm>
            <a:off x="841248" y="57607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D5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Проверяват дали поведението остава последователно при натрупване на контекст и нарастващ риск.</a:t>
            </a:r>
            <a:endParaRPr lang="en-US" sz="1050" dirty="0"/>
          </a:p>
        </p:txBody>
      </p:sp>
      <p:sp>
        <p:nvSpPr>
          <p:cNvPr id="71" name="Shape 59"/>
          <p:cNvSpPr/>
          <p:nvPr/>
        </p:nvSpPr>
        <p:spPr>
          <a:xfrm>
            <a:off x="5669280" y="5577840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0A5A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60"/>
          <p:cNvSpPr/>
          <p:nvPr/>
        </p:nvSpPr>
        <p:spPr>
          <a:xfrm>
            <a:off x="5833872" y="55778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C01  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Кандидатстване за кредит</a:t>
            </a:r>
            <a:endParaRPr lang="en-US" sz="950" dirty="0"/>
          </a:p>
        </p:txBody>
      </p:sp>
      <p:sp>
        <p:nvSpPr>
          <p:cNvPr id="73" name="Shape 61"/>
          <p:cNvSpPr/>
          <p:nvPr/>
        </p:nvSpPr>
        <p:spPr>
          <a:xfrm>
            <a:off x="7635240" y="5577840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0A5A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62"/>
          <p:cNvSpPr/>
          <p:nvPr/>
        </p:nvSpPr>
        <p:spPr>
          <a:xfrm>
            <a:off x="7799832" y="55778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C02  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Съмнение за измама</a:t>
            </a:r>
            <a:endParaRPr lang="en-US" sz="950" dirty="0"/>
          </a:p>
        </p:txBody>
      </p:sp>
      <p:sp>
        <p:nvSpPr>
          <p:cNvPr id="75" name="Shape 63"/>
          <p:cNvSpPr/>
          <p:nvPr/>
        </p:nvSpPr>
        <p:spPr>
          <a:xfrm>
            <a:off x="9601200" y="5577840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0A5A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64"/>
          <p:cNvSpPr/>
          <p:nvPr/>
        </p:nvSpPr>
        <p:spPr>
          <a:xfrm>
            <a:off x="9765792" y="55778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C03  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Уязвим клиент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98448"/>
          </a:xfrm>
          <a:prstGeom prst="rect">
            <a:avLst/>
          </a:prstGeom>
          <a:solidFill>
            <a:srgbClr val="F2F7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54864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Имплементация на прототипа: цялостен пайплайн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744200" y="201168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572768"/>
            <a:ext cx="3511296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9E6E8"/>
            </a:solidFill>
            <a:prstDash val="solid"/>
          </a:ln>
          <a:effectLst>
            <a:outerShdw blurRad="88900" dist="25400" dir="5400000" algn="bl" rotWithShape="0">
              <a:srgbClr val="0F2A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392424" y="1755648"/>
            <a:ext cx="457200" cy="457200"/>
          </a:xfrm>
          <a:prstGeom prst="ellipse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92424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13816" y="1810512"/>
            <a:ext cx="530352" cy="530352"/>
          </a:xfrm>
          <a:prstGeom prst="ellipse">
            <a:avLst/>
          </a:prstGeom>
          <a:solidFill>
            <a:srgbClr val="0E7C86"/>
          </a:solidFill>
          <a:ln/>
          <a:effectLst>
            <a:outerShdw blurRad="63500" dist="25400" dir="5400000" algn="bl" rotWithShape="0">
              <a:srgbClr val="0F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011" y="1953707"/>
            <a:ext cx="243962" cy="24396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13816" y="2414016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Системни профили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13816" y="2743200"/>
            <a:ext cx="3099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поведенчески профила задават коректни и контролирано рискови отговори</a:t>
            </a:r>
            <a:endParaRPr lang="en-US" sz="11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9372" y="2286000"/>
            <a:ext cx="219456" cy="21945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352544" y="1572768"/>
            <a:ext cx="3511296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9E6E8"/>
            </a:solidFill>
            <a:prstDash val="solid"/>
          </a:ln>
          <a:effectLst>
            <a:outerShdw blurRad="88900" dist="25400" dir="5400000" algn="bl" rotWithShape="0">
              <a:srgbClr val="0F2A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150608" y="1755648"/>
            <a:ext cx="457200" cy="457200"/>
          </a:xfrm>
          <a:prstGeom prst="ellipse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7150608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4572000" y="1810512"/>
            <a:ext cx="530352" cy="530352"/>
          </a:xfrm>
          <a:prstGeom prst="ellipse">
            <a:avLst/>
          </a:prstGeom>
          <a:solidFill>
            <a:srgbClr val="0E7C86"/>
          </a:solidFill>
          <a:ln/>
          <a:effectLst>
            <a:outerShdw blurRad="63500" dist="25400" dir="5400000" algn="bl" rotWithShape="0">
              <a:srgbClr val="0F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5195" y="1953707"/>
            <a:ext cx="243962" cy="24396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572000" y="2414016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Симулация (OpenAI)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4572000" y="2743200"/>
            <a:ext cx="3099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Генериране на отговори на банков асистент по стандартизирани въпроси</a:t>
            </a:r>
            <a:endParaRPr lang="en-US" sz="11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7556" y="2286000"/>
            <a:ext cx="219456" cy="219456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8110728" y="1572768"/>
            <a:ext cx="3511296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9E6E8"/>
            </a:solidFill>
            <a:prstDash val="solid"/>
          </a:ln>
          <a:effectLst>
            <a:outerShdw blurRad="88900" dist="25400" dir="5400000" algn="bl" rotWithShape="0">
              <a:srgbClr val="0F2A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10908792" y="1755648"/>
            <a:ext cx="457200" cy="457200"/>
          </a:xfrm>
          <a:prstGeom prst="ellipse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10908792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Shape 20"/>
          <p:cNvSpPr/>
          <p:nvPr/>
        </p:nvSpPr>
        <p:spPr>
          <a:xfrm>
            <a:off x="8330184" y="1810512"/>
            <a:ext cx="530352" cy="530352"/>
          </a:xfrm>
          <a:prstGeom prst="ellipse">
            <a:avLst/>
          </a:prstGeom>
          <a:solidFill>
            <a:srgbClr val="0E7C86"/>
          </a:solidFill>
          <a:ln/>
          <a:effectLst>
            <a:outerShdw blurRad="63500" dist="25400" dir="5400000" algn="bl" rotWithShape="0">
              <a:srgbClr val="0F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3379" y="1953707"/>
            <a:ext cx="243962" cy="24396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330184" y="2414016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judge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8330184" y="2743200"/>
            <a:ext cx="3099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Автоматично присвояване на оценъчни етикети по 10 категории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594360" y="3493008"/>
            <a:ext cx="3511296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9E6E8"/>
            </a:solidFill>
            <a:prstDash val="solid"/>
          </a:ln>
          <a:effectLst>
            <a:outerShdw blurRad="88900" dist="25400" dir="5400000" algn="bl" rotWithShape="0">
              <a:srgbClr val="0F2A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3392424" y="3675888"/>
            <a:ext cx="457200" cy="457200"/>
          </a:xfrm>
          <a:prstGeom prst="ellipse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/>
          <p:nvPr/>
        </p:nvSpPr>
        <p:spPr>
          <a:xfrm>
            <a:off x="3392424" y="3675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3" name="Shape 26"/>
          <p:cNvSpPr/>
          <p:nvPr/>
        </p:nvSpPr>
        <p:spPr>
          <a:xfrm>
            <a:off x="813816" y="3730752"/>
            <a:ext cx="530352" cy="530352"/>
          </a:xfrm>
          <a:prstGeom prst="ellipse">
            <a:avLst/>
          </a:prstGeom>
          <a:solidFill>
            <a:srgbClr val="0E7C86"/>
          </a:solidFill>
          <a:ln/>
          <a:effectLst>
            <a:outerShdw blurRad="63500" dist="25400" dir="5400000" algn="bl" rotWithShape="0">
              <a:srgbClr val="0F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011" y="3873947"/>
            <a:ext cx="243962" cy="243962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13816" y="4334256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Релационна БД</a:t>
            </a:r>
            <a:endParaRPr lang="en-US" sz="1500" dirty="0"/>
          </a:p>
        </p:txBody>
      </p:sp>
      <p:sp>
        <p:nvSpPr>
          <p:cNvPr id="36" name="Text 28"/>
          <p:cNvSpPr/>
          <p:nvPr/>
        </p:nvSpPr>
        <p:spPr>
          <a:xfrm>
            <a:off x="813816" y="4663440"/>
            <a:ext cx="3099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· generations · labels — пълна проследимост</a:t>
            </a:r>
            <a:endParaRPr lang="en-US" sz="1100" dirty="0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9372" y="4206240"/>
            <a:ext cx="219456" cy="219456"/>
          </a:xfrm>
          <a:prstGeom prst="rect">
            <a:avLst/>
          </a:prstGeom>
        </p:spPr>
      </p:pic>
      <p:sp>
        <p:nvSpPr>
          <p:cNvPr id="38" name="Shape 29"/>
          <p:cNvSpPr/>
          <p:nvPr/>
        </p:nvSpPr>
        <p:spPr>
          <a:xfrm>
            <a:off x="4352544" y="3493008"/>
            <a:ext cx="3511296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9E6E8"/>
            </a:solidFill>
            <a:prstDash val="solid"/>
          </a:ln>
          <a:effectLst>
            <a:outerShdw blurRad="88900" dist="25400" dir="5400000" algn="bl" rotWithShape="0">
              <a:srgbClr val="0F2A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0"/>
          <p:cNvSpPr/>
          <p:nvPr/>
        </p:nvSpPr>
        <p:spPr>
          <a:xfrm>
            <a:off x="7150608" y="3675888"/>
            <a:ext cx="457200" cy="457200"/>
          </a:xfrm>
          <a:prstGeom prst="ellipse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1"/>
          <p:cNvSpPr/>
          <p:nvPr/>
        </p:nvSpPr>
        <p:spPr>
          <a:xfrm>
            <a:off x="7150608" y="3675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41" name="Shape 32"/>
          <p:cNvSpPr/>
          <p:nvPr/>
        </p:nvSpPr>
        <p:spPr>
          <a:xfrm>
            <a:off x="4572000" y="3730752"/>
            <a:ext cx="530352" cy="530352"/>
          </a:xfrm>
          <a:prstGeom prst="ellipse">
            <a:avLst/>
          </a:prstGeom>
          <a:solidFill>
            <a:srgbClr val="0E7C86"/>
          </a:solidFill>
          <a:ln/>
          <a:effectLst>
            <a:outerShdw blurRad="63500" dist="25400" dir="5400000" algn="bl" rotWithShape="0">
              <a:srgbClr val="0F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5195" y="3873947"/>
            <a:ext cx="243962" cy="243962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4572000" y="4334256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обучение</a:t>
            </a:r>
            <a:endParaRPr lang="en-US" sz="1500" dirty="0"/>
          </a:p>
        </p:txBody>
      </p:sp>
      <p:sp>
        <p:nvSpPr>
          <p:cNvPr id="44" name="Text 34"/>
          <p:cNvSpPr/>
          <p:nvPr/>
        </p:nvSpPr>
        <p:spPr>
          <a:xfrm>
            <a:off x="4572000" y="4663440"/>
            <a:ext cx="3099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/ M2 / M3 — multi‑label класификация на риска</a:t>
            </a:r>
            <a:endParaRPr lang="en-US" sz="1100" dirty="0"/>
          </a:p>
        </p:txBody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7556" y="4206240"/>
            <a:ext cx="219456" cy="219456"/>
          </a:xfrm>
          <a:prstGeom prst="rect">
            <a:avLst/>
          </a:prstGeom>
        </p:spPr>
      </p:pic>
      <p:sp>
        <p:nvSpPr>
          <p:cNvPr id="46" name="Shape 35"/>
          <p:cNvSpPr/>
          <p:nvPr/>
        </p:nvSpPr>
        <p:spPr>
          <a:xfrm>
            <a:off x="8110728" y="3493008"/>
            <a:ext cx="3511296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9E6E8"/>
            </a:solidFill>
            <a:prstDash val="solid"/>
          </a:ln>
          <a:effectLst>
            <a:outerShdw blurRad="88900" dist="25400" dir="5400000" algn="bl" rotWithShape="0">
              <a:srgbClr val="0F2A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36"/>
          <p:cNvSpPr/>
          <p:nvPr/>
        </p:nvSpPr>
        <p:spPr>
          <a:xfrm>
            <a:off x="10908792" y="3675888"/>
            <a:ext cx="457200" cy="457200"/>
          </a:xfrm>
          <a:prstGeom prst="ellipse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37"/>
          <p:cNvSpPr/>
          <p:nvPr/>
        </p:nvSpPr>
        <p:spPr>
          <a:xfrm>
            <a:off x="10908792" y="3675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49" name="Shape 38"/>
          <p:cNvSpPr/>
          <p:nvPr/>
        </p:nvSpPr>
        <p:spPr>
          <a:xfrm>
            <a:off x="8330184" y="3730752"/>
            <a:ext cx="530352" cy="530352"/>
          </a:xfrm>
          <a:prstGeom prst="ellipse">
            <a:avLst/>
          </a:prstGeom>
          <a:solidFill>
            <a:srgbClr val="0E7C86"/>
          </a:solidFill>
          <a:ln/>
          <a:effectLst>
            <a:outerShdw blurRad="63500" dist="25400" dir="5400000" algn="bl" rotWithShape="0">
              <a:srgbClr val="0F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0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3379" y="3873947"/>
            <a:ext cx="243962" cy="243962"/>
          </a:xfrm>
          <a:prstGeom prst="rect">
            <a:avLst/>
          </a:prstGeom>
        </p:spPr>
      </p:pic>
      <p:sp>
        <p:nvSpPr>
          <p:cNvPr id="51" name="Text 39"/>
          <p:cNvSpPr/>
          <p:nvPr/>
        </p:nvSpPr>
        <p:spPr>
          <a:xfrm>
            <a:off x="8330184" y="4334256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Интерфейс (React)</a:t>
            </a:r>
            <a:endParaRPr lang="en-US" sz="1500" dirty="0"/>
          </a:p>
        </p:txBody>
      </p:sp>
      <p:sp>
        <p:nvSpPr>
          <p:cNvPr id="52" name="Text 40"/>
          <p:cNvSpPr/>
          <p:nvPr/>
        </p:nvSpPr>
        <p:spPr>
          <a:xfrm>
            <a:off x="8330184" y="4663440"/>
            <a:ext cx="3099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на нов разговор, флагове и Banking Risk Index</a:t>
            </a:r>
            <a:endParaRPr lang="en-US" sz="1100" dirty="0"/>
          </a:p>
        </p:txBody>
      </p:sp>
      <p:sp>
        <p:nvSpPr>
          <p:cNvPr id="53" name="Shape 41"/>
          <p:cNvSpPr/>
          <p:nvPr/>
        </p:nvSpPr>
        <p:spPr>
          <a:xfrm>
            <a:off x="594360" y="5285232"/>
            <a:ext cx="10972800" cy="548640"/>
          </a:xfrm>
          <a:prstGeom prst="roundRect">
            <a:avLst>
              <a:gd name="adj" fmla="val 11667"/>
            </a:avLst>
          </a:prstGeom>
          <a:solidFill>
            <a:srgbClr val="0F2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42"/>
          <p:cNvSpPr/>
          <p:nvPr/>
        </p:nvSpPr>
        <p:spPr>
          <a:xfrm>
            <a:off x="868680" y="5285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Технологии:  </a:t>
            </a:r>
            <a:r>
              <a:rPr lang="en-US" sz="12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OpenAI API · scikit‑learn · Hugging Face Transformers · PyTorch · React · Streamlit · matplotlib · LIME (XAI)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98448"/>
          </a:xfrm>
          <a:prstGeom prst="rect">
            <a:avLst/>
          </a:prstGeom>
          <a:solidFill>
            <a:srgbClr val="F2F7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54864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Симулация с OpenAI, обучение и интерфейс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744200" y="201168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481328"/>
            <a:ext cx="3657600" cy="4526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E6E8"/>
            </a:solidFill>
            <a:prstDash val="solid"/>
          </a:ln>
          <a:effectLst>
            <a:outerShdw blurRad="88900" dist="25400" dir="5400000" algn="bl" rotWithShape="0">
              <a:srgbClr val="0F2A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32104" y="1737360"/>
            <a:ext cx="512064" cy="512064"/>
          </a:xfrm>
          <a:prstGeom prst="ellipse">
            <a:avLst/>
          </a:prstGeom>
          <a:solidFill>
            <a:srgbClr val="0E7C86"/>
          </a:solidFill>
          <a:ln/>
          <a:effectLst>
            <a:outerShdw blurRad="63500" dist="25400" dir="5400000" algn="bl" rotWithShape="0">
              <a:srgbClr val="0F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361" y="1875617"/>
            <a:ext cx="235549" cy="23554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173736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Симулация · OpenAI API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32104" y="234086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системни профила → балансиран набор с положителни и рискови примери: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68680" y="2971800"/>
            <a:ext cx="128016" cy="128016"/>
          </a:xfrm>
          <a:prstGeom prst="ellipse">
            <a:avLst/>
          </a:prstGeom>
          <a:solidFill>
            <a:srgbClr val="1F8A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124712" y="28529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</a:t>
            </a:r>
            <a:r>
              <a:rPr lang="en-US" sz="11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отговорно поведение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68680" y="3355848"/>
            <a:ext cx="128016" cy="128016"/>
          </a:xfrm>
          <a:prstGeom prst="ellipse">
            <a:avLst/>
          </a:prstGeom>
          <a:solidFill>
            <a:srgbClr val="D98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124712" y="323697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overconfident</a:t>
            </a:r>
            <a:r>
              <a:rPr lang="en-US" sz="11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нарушена прозрачност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68680" y="3739896"/>
            <a:ext cx="128016" cy="128016"/>
          </a:xfrm>
          <a:prstGeom prst="ellipse">
            <a:avLst/>
          </a:prstGeom>
          <a:solidFill>
            <a:srgbClr val="D98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124712" y="362102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privacy_risky</a:t>
            </a:r>
            <a:r>
              <a:rPr lang="en-US" sz="11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риск за лични данни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68680" y="4123944"/>
            <a:ext cx="128016" cy="128016"/>
          </a:xfrm>
          <a:prstGeom prst="ellipse">
            <a:avLst/>
          </a:prstGeom>
          <a:solidFill>
            <a:srgbClr val="D98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124712" y="40050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no_escalation</a:t>
            </a:r>
            <a:r>
              <a:rPr lang="en-US" sz="11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без човешка ескалация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68680" y="4507992"/>
            <a:ext cx="128016" cy="128016"/>
          </a:xfrm>
          <a:prstGeom prst="ellipse">
            <a:avLst/>
          </a:prstGeom>
          <a:solidFill>
            <a:srgbClr val="D98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124712" y="4389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sales_pushy</a:t>
            </a:r>
            <a:r>
              <a:rPr lang="en-US" sz="11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натрапчиво продаване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68680" y="4892040"/>
            <a:ext cx="128016" cy="128016"/>
          </a:xfrm>
          <a:prstGeom prst="ellipse">
            <a:avLst/>
          </a:prstGeom>
          <a:solidFill>
            <a:srgbClr val="D98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124712" y="47731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low_accessibility</a:t>
            </a:r>
            <a:r>
              <a:rPr lang="en-US" sz="11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жаргон, недостъпност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32104" y="5394960"/>
            <a:ext cx="3200400" cy="457200"/>
          </a:xfrm>
          <a:prstGeom prst="roundRect">
            <a:avLst>
              <a:gd name="adj" fmla="val 50000"/>
            </a:avLst>
          </a:prstGeom>
          <a:solidFill>
            <a:srgbClr val="EA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32104" y="5394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5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1 164 </a:t>
            </a:r>
            <a:r>
              <a:rPr lang="en-US" sz="12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генерирани и оценени отговора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434840" y="1481328"/>
            <a:ext cx="3657600" cy="4526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E6E8"/>
            </a:solidFill>
            <a:prstDash val="solid"/>
          </a:ln>
          <a:effectLst>
            <a:outerShdw blurRad="88900" dist="25400" dir="5400000" algn="bl" rotWithShape="0">
              <a:srgbClr val="0F2A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672584" y="1737360"/>
            <a:ext cx="512064" cy="512064"/>
          </a:xfrm>
          <a:prstGeom prst="ellipse">
            <a:avLst/>
          </a:prstGeom>
          <a:solidFill>
            <a:srgbClr val="0E7C86"/>
          </a:solidFill>
          <a:ln/>
          <a:effectLst>
            <a:outerShdw blurRad="63500" dist="25400" dir="5400000" algn="bl" rotWithShape="0">
              <a:srgbClr val="0F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0841" y="1875617"/>
            <a:ext cx="235549" cy="235549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303520" y="173736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Обучение · ML модели</a:t>
            </a:r>
            <a:endParaRPr lang="en-US" sz="1450" dirty="0"/>
          </a:p>
        </p:txBody>
      </p:sp>
      <p:sp>
        <p:nvSpPr>
          <p:cNvPr id="30" name="Text 26"/>
          <p:cNvSpPr/>
          <p:nvPr/>
        </p:nvSpPr>
        <p:spPr>
          <a:xfrm>
            <a:off x="4672584" y="234086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Multi‑label класификация по 9 рискови етикета: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4672584" y="2798064"/>
            <a:ext cx="3200400" cy="713232"/>
          </a:xfrm>
          <a:prstGeom prst="roundRect">
            <a:avLst>
              <a:gd name="adj" fmla="val 8974"/>
            </a:avLst>
          </a:prstGeom>
          <a:solidFill>
            <a:srgbClr val="EAF4F4"/>
          </a:solidFill>
          <a:ln w="12700">
            <a:solidFill>
              <a:srgbClr val="D9E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4818888" y="2980944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4818888" y="2980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5303520" y="287121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TF‑IDF + Logistic Regression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5303520" y="31821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 лексикален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4672584" y="3602736"/>
            <a:ext cx="3200400" cy="713232"/>
          </a:xfrm>
          <a:prstGeom prst="roundRect">
            <a:avLst>
              <a:gd name="adj" fmla="val 8974"/>
            </a:avLst>
          </a:prstGeom>
          <a:solidFill>
            <a:srgbClr val="EAF4F4"/>
          </a:solidFill>
          <a:ln w="12700">
            <a:solidFill>
              <a:srgbClr val="D9E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4818888" y="3785616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4818888" y="3785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5303520" y="367588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bert‑base‑multilingual‑cased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5303520" y="39867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трансформер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4672584" y="4407408"/>
            <a:ext cx="3200400" cy="713232"/>
          </a:xfrm>
          <a:prstGeom prst="roundRect">
            <a:avLst>
              <a:gd name="adj" fmla="val 8974"/>
            </a:avLst>
          </a:prstGeom>
          <a:solidFill>
            <a:srgbClr val="EAF4F4"/>
          </a:solidFill>
          <a:ln w="12700">
            <a:solidFill>
              <a:srgbClr val="D9E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8"/>
          <p:cNvSpPr/>
          <p:nvPr/>
        </p:nvSpPr>
        <p:spPr>
          <a:xfrm>
            <a:off x="4818888" y="4590288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9"/>
          <p:cNvSpPr/>
          <p:nvPr/>
        </p:nvSpPr>
        <p:spPr>
          <a:xfrm>
            <a:off x="4818888" y="4590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100" dirty="0"/>
          </a:p>
        </p:txBody>
      </p:sp>
      <p:sp>
        <p:nvSpPr>
          <p:cNvPr id="44" name="Text 40"/>
          <p:cNvSpPr/>
          <p:nvPr/>
        </p:nvSpPr>
        <p:spPr>
          <a:xfrm>
            <a:off x="5303520" y="44805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xlm‑roberta‑base</a:t>
            </a:r>
            <a:endParaRPr lang="en-US" sz="1100" dirty="0"/>
          </a:p>
        </p:txBody>
      </p:sp>
      <p:sp>
        <p:nvSpPr>
          <p:cNvPr id="45" name="Text 41"/>
          <p:cNvSpPr/>
          <p:nvPr/>
        </p:nvSpPr>
        <p:spPr>
          <a:xfrm>
            <a:off x="5303520" y="47914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трансформер</a:t>
            </a:r>
            <a:endParaRPr lang="en-US" sz="1000" dirty="0"/>
          </a:p>
        </p:txBody>
      </p:sp>
      <p:sp>
        <p:nvSpPr>
          <p:cNvPr id="46" name="Shape 42"/>
          <p:cNvSpPr/>
          <p:nvPr/>
        </p:nvSpPr>
        <p:spPr>
          <a:xfrm>
            <a:off x="4672584" y="5285232"/>
            <a:ext cx="3200400" cy="585216"/>
          </a:xfrm>
          <a:prstGeom prst="roundRect">
            <a:avLst>
              <a:gd name="adj" fmla="val 10938"/>
            </a:avLst>
          </a:prstGeom>
          <a:solidFill>
            <a:srgbClr val="0F2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3"/>
          <p:cNvSpPr/>
          <p:nvPr/>
        </p:nvSpPr>
        <p:spPr>
          <a:xfrm>
            <a:off x="4818888" y="5285232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Извод: </a:t>
            </a:r>
            <a:r>
              <a:rPr lang="en-US" sz="10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печели при 7/9 етикета (Macro‑F1 0.54) — простият модел е по‑силен при малки, дисбалансирани данни.</a:t>
            </a:r>
            <a:endParaRPr lang="en-US" sz="1000" dirty="0"/>
          </a:p>
        </p:txBody>
      </p:sp>
      <p:sp>
        <p:nvSpPr>
          <p:cNvPr id="48" name="Shape 44"/>
          <p:cNvSpPr/>
          <p:nvPr/>
        </p:nvSpPr>
        <p:spPr>
          <a:xfrm>
            <a:off x="8275320" y="1481328"/>
            <a:ext cx="3291840" cy="45262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E6E8"/>
            </a:solidFill>
            <a:prstDash val="solid"/>
          </a:ln>
          <a:effectLst>
            <a:outerShdw blurRad="88900" dist="25400" dir="5400000" algn="bl" rotWithShape="0">
              <a:srgbClr val="0F2A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5"/>
          <p:cNvSpPr/>
          <p:nvPr/>
        </p:nvSpPr>
        <p:spPr>
          <a:xfrm>
            <a:off x="8513064" y="1737360"/>
            <a:ext cx="512064" cy="512064"/>
          </a:xfrm>
          <a:prstGeom prst="ellipse">
            <a:avLst/>
          </a:prstGeom>
          <a:solidFill>
            <a:srgbClr val="0E7C86"/>
          </a:solidFill>
          <a:ln/>
          <a:effectLst>
            <a:outerShdw blurRad="63500" dist="25400" dir="5400000" algn="bl" rotWithShape="0">
              <a:srgbClr val="0F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1321" y="1875617"/>
            <a:ext cx="235549" cy="235549"/>
          </a:xfrm>
          <a:prstGeom prst="rect">
            <a:avLst/>
          </a:prstGeom>
        </p:spPr>
      </p:pic>
      <p:sp>
        <p:nvSpPr>
          <p:cNvPr id="51" name="Text 46"/>
          <p:cNvSpPr/>
          <p:nvPr/>
        </p:nvSpPr>
        <p:spPr>
          <a:xfrm>
            <a:off x="9144000" y="173736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Интерфейс · React</a:t>
            </a:r>
            <a:endParaRPr lang="en-US" sz="1450" dirty="0"/>
          </a:p>
        </p:txBody>
      </p:sp>
      <p:sp>
        <p:nvSpPr>
          <p:cNvPr id="52" name="Text 47"/>
          <p:cNvSpPr/>
          <p:nvPr/>
        </p:nvSpPr>
        <p:spPr>
          <a:xfrm>
            <a:off x="8513064" y="234086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Интерактивна оценка на нов разговор върху обучените модели:</a:t>
            </a:r>
            <a:endParaRPr lang="en-US" sz="1100" dirty="0"/>
          </a:p>
        </p:txBody>
      </p:sp>
      <p:pic>
        <p:nvPicPr>
          <p:cNvPr id="5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640" y="2962656"/>
            <a:ext cx="182880" cy="182880"/>
          </a:xfrm>
          <a:prstGeom prst="rect">
            <a:avLst/>
          </a:prstGeom>
        </p:spPr>
      </p:pic>
      <p:sp>
        <p:nvSpPr>
          <p:cNvPr id="54" name="Text 48"/>
          <p:cNvSpPr/>
          <p:nvPr/>
        </p:nvSpPr>
        <p:spPr>
          <a:xfrm>
            <a:off x="8842248" y="287121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Избор на модел (M1/M2/M3)</a:t>
            </a:r>
            <a:endParaRPr lang="en-US" sz="1100" dirty="0"/>
          </a:p>
        </p:txBody>
      </p:sp>
      <p:pic>
        <p:nvPicPr>
          <p:cNvPr id="5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640" y="3383280"/>
            <a:ext cx="182880" cy="182880"/>
          </a:xfrm>
          <a:prstGeom prst="rect">
            <a:avLst/>
          </a:prstGeom>
        </p:spPr>
      </p:pic>
      <p:sp>
        <p:nvSpPr>
          <p:cNvPr id="56" name="Text 49"/>
          <p:cNvSpPr/>
          <p:nvPr/>
        </p:nvSpPr>
        <p:spPr>
          <a:xfrm>
            <a:off x="8842248" y="32918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Въвеждане на реплики и отговори</a:t>
            </a:r>
            <a:endParaRPr lang="en-US" sz="1100" dirty="0"/>
          </a:p>
        </p:txBody>
      </p:sp>
      <p:pic>
        <p:nvPicPr>
          <p:cNvPr id="5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640" y="3803904"/>
            <a:ext cx="182880" cy="182880"/>
          </a:xfrm>
          <a:prstGeom prst="rect">
            <a:avLst/>
          </a:prstGeom>
        </p:spPr>
      </p:pic>
      <p:sp>
        <p:nvSpPr>
          <p:cNvPr id="58" name="Text 50"/>
          <p:cNvSpPr/>
          <p:nvPr/>
        </p:nvSpPr>
        <p:spPr>
          <a:xfrm>
            <a:off x="8842248" y="371246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Рискови флагове по етикети</a:t>
            </a:r>
            <a:endParaRPr lang="en-US" sz="1100" dirty="0"/>
          </a:p>
        </p:txBody>
      </p:sp>
      <p:pic>
        <p:nvPicPr>
          <p:cNvPr id="59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640" y="4224528"/>
            <a:ext cx="182880" cy="182880"/>
          </a:xfrm>
          <a:prstGeom prst="rect">
            <a:avLst/>
          </a:prstGeom>
        </p:spPr>
      </p:pic>
      <p:sp>
        <p:nvSpPr>
          <p:cNvPr id="60" name="Text 51"/>
          <p:cNvSpPr/>
          <p:nvPr/>
        </p:nvSpPr>
        <p:spPr>
          <a:xfrm>
            <a:off x="8842248" y="41330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/ risk / compliance score</a:t>
            </a:r>
            <a:endParaRPr lang="en-US" sz="1100" dirty="0"/>
          </a:p>
        </p:txBody>
      </p:sp>
      <p:pic>
        <p:nvPicPr>
          <p:cNvPr id="61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640" y="4645152"/>
            <a:ext cx="182880" cy="182880"/>
          </a:xfrm>
          <a:prstGeom prst="rect">
            <a:avLst/>
          </a:prstGeom>
        </p:spPr>
      </p:pic>
      <p:sp>
        <p:nvSpPr>
          <p:cNvPr id="62" name="Text 52"/>
          <p:cNvSpPr/>
          <p:nvPr/>
        </p:nvSpPr>
        <p:spPr>
          <a:xfrm>
            <a:off x="8842248" y="45537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Подскорове по R₁–R₁₀</a:t>
            </a:r>
            <a:endParaRPr lang="en-US" sz="1100" dirty="0"/>
          </a:p>
        </p:txBody>
      </p:sp>
      <p:pic>
        <p:nvPicPr>
          <p:cNvPr id="63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640" y="5065776"/>
            <a:ext cx="182880" cy="182880"/>
          </a:xfrm>
          <a:prstGeom prst="rect">
            <a:avLst/>
          </a:prstGeom>
        </p:spPr>
      </p:pic>
      <p:sp>
        <p:nvSpPr>
          <p:cNvPr id="64" name="Text 53"/>
          <p:cNvSpPr/>
          <p:nvPr/>
        </p:nvSpPr>
        <p:spPr>
          <a:xfrm>
            <a:off x="8842248" y="497433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Обобщен Banking Risk Index</a:t>
            </a:r>
            <a:endParaRPr lang="en-US" sz="1100" dirty="0"/>
          </a:p>
        </p:txBody>
      </p:sp>
      <p:pic>
        <p:nvPicPr>
          <p:cNvPr id="65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640" y="5486400"/>
            <a:ext cx="182880" cy="182880"/>
          </a:xfrm>
          <a:prstGeom prst="rect">
            <a:avLst/>
          </a:prstGeom>
        </p:spPr>
      </p:pic>
      <p:sp>
        <p:nvSpPr>
          <p:cNvPr id="66" name="Text 54"/>
          <p:cNvSpPr/>
          <p:nvPr/>
        </p:nvSpPr>
        <p:spPr>
          <a:xfrm>
            <a:off x="8842248" y="53949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обяснимост на ниво дума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98448"/>
          </a:xfrm>
          <a:prstGeom prst="rect">
            <a:avLst/>
          </a:prstGeom>
          <a:solidFill>
            <a:srgbClr val="F2F7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54864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Оценка на поведението: силни страни и пропуски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744200" y="201168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A5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1 164 </a:t>
            </a:r>
            <a:r>
              <a:rPr lang="en-US" sz="12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генерирани отговора, оценени от LLM judge по десет категории. Базовите измерения са силни — слабостите се проявяват при предпазливост и ескалация.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2011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СИЛНИ СТРАНИ (нормализирани оценки)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" y="2359152"/>
            <a:ext cx="2670048" cy="1371600"/>
          </a:xfrm>
          <a:prstGeom prst="roundRect">
            <a:avLst>
              <a:gd name="adj" fmla="val 6667"/>
            </a:avLst>
          </a:prstGeom>
          <a:solidFill>
            <a:srgbClr val="0F2A33"/>
          </a:solidFill>
          <a:ln/>
          <a:effectLst>
            <a:outerShdw blurRad="76200" dist="25400" dir="5400000" algn="bl" rotWithShape="0">
              <a:srgbClr val="0F2A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13816" y="2542032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13816" y="314553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SafetyScore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3816" y="341985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 на отговорите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29000" y="2359152"/>
            <a:ext cx="2670048" cy="1371600"/>
          </a:xfrm>
          <a:prstGeom prst="roundRect">
            <a:avLst>
              <a:gd name="adj" fmla="val 6667"/>
            </a:avLst>
          </a:prstGeom>
          <a:solidFill>
            <a:srgbClr val="0F2A33"/>
          </a:solidFill>
          <a:ln/>
          <a:effectLst>
            <a:outerShdw blurRad="76200" dist="25400" dir="5400000" algn="bl" rotWithShape="0">
              <a:srgbClr val="0F2A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48456" y="2542032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0.93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3648456" y="314553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HonestyScore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48456" y="341985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фактическа коректност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2359152"/>
            <a:ext cx="2670048" cy="1371600"/>
          </a:xfrm>
          <a:prstGeom prst="roundRect">
            <a:avLst>
              <a:gd name="adj" fmla="val 6667"/>
            </a:avLst>
          </a:prstGeom>
          <a:solidFill>
            <a:srgbClr val="0F2A33"/>
          </a:solidFill>
          <a:ln/>
          <a:effectLst>
            <a:outerShdw blurRad="76200" dist="25400" dir="5400000" algn="bl" rotWithShape="0">
              <a:srgbClr val="0F2A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83096" y="2542032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483096" y="314553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PrivacyScore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83096" y="341985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на личните данни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098280" y="2359152"/>
            <a:ext cx="2670048" cy="1371600"/>
          </a:xfrm>
          <a:prstGeom prst="roundRect">
            <a:avLst>
              <a:gd name="adj" fmla="val 6667"/>
            </a:avLst>
          </a:prstGeom>
          <a:solidFill>
            <a:srgbClr val="0F2A33"/>
          </a:solidFill>
          <a:ln/>
          <a:effectLst>
            <a:outerShdw blurRad="76200" dist="25400" dir="5400000" algn="bl" rotWithShape="0">
              <a:srgbClr val="0F2A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317736" y="2542032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0.82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9317736" y="314553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Align.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17736" y="341985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съответствие с ролята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" y="3977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КРИТИЧНИ ПРОПУСКИ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94360" y="4315968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DF1E3"/>
          </a:solidFill>
          <a:ln w="12700">
            <a:solidFill>
              <a:srgbClr val="EBCBA0"/>
            </a:solidFill>
            <a:prstDash val="solid"/>
          </a:ln>
          <a:effectLst>
            <a:outerShdw blurRad="63500" dist="25400" dir="5400000" algn="bl" rotWithShape="0">
              <a:srgbClr val="0F2A33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50392" y="4590288"/>
            <a:ext cx="548640" cy="548640"/>
          </a:xfrm>
          <a:prstGeom prst="ellipse">
            <a:avLst/>
          </a:prstGeom>
          <a:solidFill>
            <a:srgbClr val="D98A2B"/>
          </a:solidFill>
          <a:ln/>
          <a:effectLst>
            <a:outerShdw blurRad="63500" dist="25400" dir="5400000" algn="bl" rotWithShape="0">
              <a:srgbClr val="0F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525" y="4738421"/>
            <a:ext cx="252374" cy="252374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554480" y="44805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5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0.59</a:t>
            </a:r>
            <a:endParaRPr lang="en-US" sz="3400" dirty="0"/>
          </a:p>
        </p:txBody>
      </p:sp>
      <p:sp>
        <p:nvSpPr>
          <p:cNvPr id="30" name="Text 27"/>
          <p:cNvSpPr/>
          <p:nvPr/>
        </p:nvSpPr>
        <p:spPr>
          <a:xfrm>
            <a:off x="3063240" y="453542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Escalation Compliance Rate (ECR)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850392" y="5193792"/>
            <a:ext cx="4892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системата не разпознава последователно кога е нужна човешка намеса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063240" y="5029200"/>
            <a:ext cx="2697480" cy="109728"/>
          </a:xfrm>
          <a:prstGeom prst="roundRect">
            <a:avLst>
              <a:gd name="adj" fmla="val 50000"/>
            </a:avLst>
          </a:prstGeom>
          <a:solidFill>
            <a:srgbClr val="F0DD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3063240" y="5029200"/>
            <a:ext cx="1591513" cy="109728"/>
          </a:xfrm>
          <a:prstGeom prst="roundRect">
            <a:avLst>
              <a:gd name="adj" fmla="val 50000"/>
            </a:avLst>
          </a:prstGeom>
          <a:solidFill>
            <a:srgbClr val="D98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6172200" y="4315968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DF1E3"/>
          </a:solidFill>
          <a:ln w="12700">
            <a:solidFill>
              <a:srgbClr val="EBCBA0"/>
            </a:solidFill>
            <a:prstDash val="solid"/>
          </a:ln>
          <a:effectLst>
            <a:outerShdw blurRad="63500" dist="25400" dir="5400000" algn="bl" rotWithShape="0">
              <a:srgbClr val="0F2A33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6428232" y="4590288"/>
            <a:ext cx="548640" cy="548640"/>
          </a:xfrm>
          <a:prstGeom prst="ellipse">
            <a:avLst/>
          </a:prstGeom>
          <a:solidFill>
            <a:srgbClr val="D98A2B"/>
          </a:solidFill>
          <a:ln/>
          <a:effectLst>
            <a:outerShdw blurRad="63500" dist="25400" dir="5400000" algn="bl" rotWithShape="0">
              <a:srgbClr val="0F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6365" y="4738421"/>
            <a:ext cx="252374" cy="252374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7132320" y="44805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5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0.34</a:t>
            </a:r>
            <a:endParaRPr lang="en-US" sz="3400" dirty="0"/>
          </a:p>
        </p:txBody>
      </p:sp>
      <p:sp>
        <p:nvSpPr>
          <p:cNvPr id="38" name="Text 34"/>
          <p:cNvSpPr/>
          <p:nvPr/>
        </p:nvSpPr>
        <p:spPr>
          <a:xfrm>
            <a:off x="8641080" y="453542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Cautious Response Rate (CRR)</a:t>
            </a:r>
            <a:endParaRPr lang="en-US" sz="1300" dirty="0"/>
          </a:p>
        </p:txBody>
      </p:sp>
      <p:sp>
        <p:nvSpPr>
          <p:cNvPr id="39" name="Text 35"/>
          <p:cNvSpPr/>
          <p:nvPr/>
        </p:nvSpPr>
        <p:spPr>
          <a:xfrm>
            <a:off x="6428232" y="5193792"/>
            <a:ext cx="4892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недостатъчна предпазливост при рискови запитвания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8641080" y="5029200"/>
            <a:ext cx="2697480" cy="109728"/>
          </a:xfrm>
          <a:prstGeom prst="roundRect">
            <a:avLst>
              <a:gd name="adj" fmla="val 50000"/>
            </a:avLst>
          </a:prstGeom>
          <a:solidFill>
            <a:srgbClr val="F0DD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7"/>
          <p:cNvSpPr/>
          <p:nvPr/>
        </p:nvSpPr>
        <p:spPr>
          <a:xfrm>
            <a:off x="8641080" y="5029200"/>
            <a:ext cx="917143" cy="109728"/>
          </a:xfrm>
          <a:prstGeom prst="roundRect">
            <a:avLst>
              <a:gd name="adj" fmla="val 50000"/>
            </a:avLst>
          </a:prstGeom>
          <a:solidFill>
            <a:srgbClr val="D98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/>
          <p:nvPr/>
        </p:nvSpPr>
        <p:spPr>
          <a:xfrm>
            <a:off x="594360" y="5897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i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Извод:  </a:t>
            </a:r>
            <a:r>
              <a:rPr lang="en-US" sz="1150" i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находките съвпадат с предупрежденията на EBA и CFPB за недостатъчен надзор при автоматизирани банкови асистенти — и потвърждават значението на governance механизмите.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98448"/>
          </a:xfrm>
          <a:prstGeom prst="rect">
            <a:avLst/>
          </a:prstGeom>
          <a:solidFill>
            <a:srgbClr val="F2F7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54864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Валидация на ML компонента: F1 и </a:t>
            </a:r>
            <a:r>
              <a:rPr lang="en-US" sz="2700" b="1" dirty="0" err="1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матрица</a:t>
            </a:r>
            <a:r>
              <a:rPr lang="en-US" sz="27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bg-BG" sz="27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 объркванията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744200" y="201168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ПО ЕТИКЕТ — МОДЕЛ M1 (Фиг. 4.4)</a:t>
            </a:r>
            <a:endParaRPr lang="en-US" sz="11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548640" y="1755648"/>
          <a:ext cx="521208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594360" y="464515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ОБОБЩЕНИ РЕЗУЛТАТИ (тестов набор)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94360" y="4937760"/>
            <a:ext cx="5120640" cy="274320"/>
          </a:xfrm>
          <a:prstGeom prst="rect">
            <a:avLst/>
          </a:prstGeom>
          <a:solidFill>
            <a:srgbClr val="EAF4F4"/>
          </a:solidFill>
          <a:ln w="6350">
            <a:solidFill>
              <a:srgbClr val="D9E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04088" y="49377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463040" y="4937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Macro‑F1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743200" y="4937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Micro‑F1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023360" y="49377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94360" y="5212080"/>
            <a:ext cx="5120640" cy="274320"/>
          </a:xfrm>
          <a:prstGeom prst="rect">
            <a:avLst/>
          </a:prstGeom>
          <a:solidFill>
            <a:srgbClr val="FDF1E3"/>
          </a:solidFill>
          <a:ln w="6350">
            <a:solidFill>
              <a:srgbClr val="D9E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04088" y="52120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B5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463040" y="5212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5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0.54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743200" y="5212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5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0.64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023360" y="52120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5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0.70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94360" y="5486400"/>
            <a:ext cx="5120640" cy="274320"/>
          </a:xfrm>
          <a:prstGeom prst="rect">
            <a:avLst/>
          </a:prstGeom>
          <a:solidFill>
            <a:srgbClr val="F7FAFA"/>
          </a:solidFill>
          <a:ln w="6350">
            <a:solidFill>
              <a:srgbClr val="D9E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04088" y="54864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463040" y="5486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0.22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2743200" y="5486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0.45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023360" y="54864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0.19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94360" y="5760720"/>
            <a:ext cx="5120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704088" y="57607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463040" y="5760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0.20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2743200" y="5760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0.41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023360" y="57607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0.17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989320" y="14630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МАТРИЦА F1: КАТЕГОРИЯ × ЕТИКЕТ — МОДЕЛ M1 (Фиг. 4.5)</a:t>
            </a:r>
            <a:endParaRPr lang="en-US" sz="1150" dirty="0"/>
          </a:p>
        </p:txBody>
      </p:sp>
      <p:pic>
        <p:nvPicPr>
          <p:cNvPr id="31" name="Image 0" descr="/home/claude/assets_fig45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89320" y="1783080"/>
            <a:ext cx="5577840" cy="3298545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5989320" y="5191353"/>
            <a:ext cx="5577840" cy="1078992"/>
          </a:xfrm>
          <a:prstGeom prst="roundRect">
            <a:avLst>
              <a:gd name="adj" fmla="val 6780"/>
            </a:avLst>
          </a:prstGeom>
          <a:solidFill>
            <a:srgbClr val="0F2A33"/>
          </a:solidFill>
          <a:ln/>
          <a:effectLst>
            <a:outerShdw blurRad="76200" dist="25400" dir="5400000" algn="bl" rotWithShape="0">
              <a:srgbClr val="0F2A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6217920" y="5301081"/>
            <a:ext cx="51206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Защо не „точност"?  </a:t>
            </a:r>
            <a:r>
              <a:rPr lang="en-US" sz="10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дисбалансирани multi‑label данни recall и F1 са по‑информативни от суровата точност. Тъмните зони (достъпност, измами) са с малко положителни примери; ярките (персонализиран съвет, ескалация, поверителност) — където M1 разпознава риска най‑надеждно. Приоритет е нисък брой пропуснати рискове.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98448"/>
          </a:xfrm>
          <a:prstGeom prst="rect">
            <a:avLst/>
          </a:prstGeom>
          <a:solidFill>
            <a:srgbClr val="F2F7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54864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Обяснимост на оценката: XAI с LIME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744200" y="201168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„черна кутия": </a:t>
            </a:r>
            <a:r>
              <a:rPr lang="en-US" sz="12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обяснява всяко предсказание локално и модел‑агностично — смущава думите във входа и измерва приноса им към даден риск етикет. Така крайният скор е проследим до конкретни думи и одитируем (в съответствие с надзорните очаквания на EBA [19]).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2057400"/>
            <a:ext cx="6446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 отговор „…автоматичен виртуален банков асистент, не човек…"  →  етикет transparency_violation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48840" y="2642616"/>
            <a:ext cx="0" cy="2871216"/>
          </a:xfrm>
          <a:prstGeom prst="line">
            <a:avLst/>
          </a:prstGeom>
          <a:noFill/>
          <a:ln w="12700">
            <a:solidFill>
              <a:srgbClr val="9FB4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26791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човек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148840" y="2697480"/>
            <a:ext cx="3105028" cy="274320"/>
          </a:xfrm>
          <a:prstGeom prst="roundRect">
            <a:avLst>
              <a:gd name="adj" fmla="val 10000"/>
            </a:avLst>
          </a:prstGeom>
          <a:solidFill>
            <a:srgbClr val="D98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08732" y="267919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+0.139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309981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служител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148840" y="3118104"/>
            <a:ext cx="878190" cy="274320"/>
          </a:xfrm>
          <a:prstGeom prst="roundRect">
            <a:avLst>
              <a:gd name="adj" fmla="val 10000"/>
            </a:avLst>
          </a:prstGeom>
          <a:solidFill>
            <a:srgbClr val="D98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081894" y="309981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+0.039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" y="352044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148840" y="3538728"/>
            <a:ext cx="627278" cy="274320"/>
          </a:xfrm>
          <a:prstGeom prst="roundRect">
            <a:avLst>
              <a:gd name="adj" fmla="val 10000"/>
            </a:avLst>
          </a:prstGeom>
          <a:solidFill>
            <a:srgbClr val="D98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830982" y="352044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+0.028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" y="394106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148840" y="3959352"/>
            <a:ext cx="618317" cy="274320"/>
          </a:xfrm>
          <a:prstGeom prst="roundRect">
            <a:avLst>
              <a:gd name="adj" fmla="val 10000"/>
            </a:avLst>
          </a:prstGeom>
          <a:solidFill>
            <a:srgbClr val="D98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822021" y="394106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+0.028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94360" y="436168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148840" y="4379976"/>
            <a:ext cx="551109" cy="274320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54813" y="436168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−0.025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94360" y="478231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виртуален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148840" y="4800600"/>
            <a:ext cx="929716" cy="274320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133420" y="478231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−0.042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94360" y="520293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асистент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148840" y="5221224"/>
            <a:ext cx="1203030" cy="274320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406734" y="520293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−0.054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94360" y="5724144"/>
            <a:ext cx="182880" cy="182880"/>
          </a:xfrm>
          <a:prstGeom prst="rect">
            <a:avLst/>
          </a:prstGeom>
          <a:solidFill>
            <a:srgbClr val="D98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50392" y="566013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увеличава риска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697480" y="5724144"/>
            <a:ext cx="182880" cy="18288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953512" y="566013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намалява риска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360920" y="2057400"/>
            <a:ext cx="4206240" cy="1078992"/>
          </a:xfrm>
          <a:prstGeom prst="roundRect">
            <a:avLst>
              <a:gd name="adj" fmla="val 8475"/>
            </a:avLst>
          </a:prstGeom>
          <a:solidFill>
            <a:srgbClr val="0F2A33"/>
          </a:solidFill>
          <a:ln/>
          <a:effectLst>
            <a:outerShdw blurRad="114300" dist="38100" dir="5400000" algn="bl" rotWithShape="0">
              <a:srgbClr val="0F2A33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635240" y="2212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transparency_violation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635240" y="24688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0.5361</a:t>
            </a:r>
            <a:endParaRPr lang="en-US" sz="3400" dirty="0"/>
          </a:p>
        </p:txBody>
      </p:sp>
      <p:sp>
        <p:nvSpPr>
          <p:cNvPr id="38" name="Text 36"/>
          <p:cNvSpPr/>
          <p:nvPr/>
        </p:nvSpPr>
        <p:spPr>
          <a:xfrm>
            <a:off x="7360920" y="3273552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Думата „човек" </a:t>
            </a: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има най‑силен принос към риска; </a:t>
            </a:r>
            <a:r>
              <a:rPr lang="en-US" sz="1150" b="1" dirty="0">
                <a:solidFill>
                  <a:srgbClr val="0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„асистент" и „виртуален" </a:t>
            </a: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 намаляват. Коректната самоидентификация определя оценката за прозрачност (TCR).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360920" y="4224528"/>
            <a:ext cx="4206240" cy="603504"/>
          </a:xfrm>
          <a:prstGeom prst="roundRect">
            <a:avLst>
              <a:gd name="adj" fmla="val 12121"/>
            </a:avLst>
          </a:prstGeom>
          <a:solidFill>
            <a:srgbClr val="FDF1E3"/>
          </a:solidFill>
          <a:ln w="12700">
            <a:solidFill>
              <a:srgbClr val="EBC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543800" y="4224528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Втори отговор „Да, аз съм човек консултант…"  →  </a:t>
            </a:r>
            <a:r>
              <a:rPr lang="en-US" sz="1050" b="1" dirty="0">
                <a:solidFill>
                  <a:srgbClr val="B5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0.6998</a:t>
            </a:r>
            <a:r>
              <a:rPr lang="en-US" sz="1050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(човек +0.176)</a:t>
            </a:r>
            <a:endParaRPr lang="en-US" sz="1050" dirty="0"/>
          </a:p>
        </p:txBody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5047488"/>
            <a:ext cx="182880" cy="182880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7635240" y="497433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Проследимост до отделни думи · одитируемост</a:t>
            </a:r>
            <a:endParaRPr lang="en-US" sz="1100" dirty="0"/>
          </a:p>
        </p:txBody>
      </p:sp>
      <p:pic>
        <p:nvPicPr>
          <p:cNvPr id="4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5431536"/>
            <a:ext cx="182880" cy="182880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7635240" y="535838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Насочва ръчната проверка на гранични случаи</a:t>
            </a:r>
            <a:endParaRPr lang="en-US" sz="1100" dirty="0"/>
          </a:p>
        </p:txBody>
      </p:sp>
      <p:pic>
        <p:nvPicPr>
          <p:cNvPr id="4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5815584"/>
            <a:ext cx="182880" cy="182880"/>
          </a:xfrm>
          <a:prstGeom prst="rect">
            <a:avLst/>
          </a:prstGeom>
        </p:spPr>
      </p:pic>
      <p:sp>
        <p:nvSpPr>
          <p:cNvPr id="46" name="Text 41"/>
          <p:cNvSpPr/>
          <p:nvPr/>
        </p:nvSpPr>
        <p:spPr>
          <a:xfrm>
            <a:off x="7635240" y="57424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и обяснения на ниво фраза — бъдещо развитие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98448"/>
          </a:xfrm>
          <a:prstGeom prst="rect">
            <a:avLst/>
          </a:prstGeom>
          <a:solidFill>
            <a:srgbClr val="F2F7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54864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Валидация върху два реални банкови бота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744200" y="201168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Многоходов кредитен сценарий (C01) от 7 реплики — самоидентификация, граници на финансов съвет, нисък доход, гаранции за одобрение, лични данни (ЕГН) и човешка ескалация.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2121408"/>
            <a:ext cx="54406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9E6E8"/>
            </a:solidFill>
            <a:prstDash val="solid"/>
          </a:ln>
          <a:effectLst>
            <a:outerShdw blurRad="88900" dist="25400" dir="5400000" algn="bl" rotWithShape="0">
              <a:srgbClr val="0F2A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50392" y="2377440"/>
            <a:ext cx="548640" cy="548640"/>
          </a:xfrm>
          <a:prstGeom prst="ellipse">
            <a:avLst/>
          </a:prstGeom>
          <a:solidFill>
            <a:srgbClr val="0E7C86"/>
          </a:solidFill>
          <a:ln/>
          <a:effectLst>
            <a:outerShdw blurRad="63500" dist="25400" dir="5400000" algn="bl" rotWithShape="0">
              <a:srgbClr val="0F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525" y="2525573"/>
            <a:ext cx="252374" cy="25237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08760" y="237744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Банка ДСК — AI асистент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68680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 (M1)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68680" y="3291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5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79.6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868680" y="3950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100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68680" y="4224528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DF1E3"/>
          </a:solidFill>
          <a:ln w="12700">
            <a:solidFill>
              <a:srgbClr val="EBC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68680" y="42245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Среден риск · 0/9 флага</a:t>
            </a:r>
            <a:endParaRPr lang="en-US" sz="9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3154680"/>
            <a:ext cx="182880" cy="1828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154680" y="308152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По‑информативен и разговорен</a:t>
            </a:r>
            <a:endParaRPr lang="en-US" sz="115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3657600"/>
            <a:ext cx="182880" cy="1828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154680" y="358444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Директни, съдържателни отговори</a:t>
            </a:r>
            <a:endParaRPr lang="en-US" sz="115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4160520"/>
            <a:ext cx="182880" cy="1828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154680" y="408736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Доближава се до персонализиран финансов съвет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126480" y="2121408"/>
            <a:ext cx="54406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9E6E8"/>
            </a:solidFill>
            <a:prstDash val="solid"/>
          </a:ln>
          <a:effectLst>
            <a:outerShdw blurRad="88900" dist="25400" dir="5400000" algn="bl" rotWithShape="0">
              <a:srgbClr val="0F2A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6382512" y="2377440"/>
            <a:ext cx="548640" cy="548640"/>
          </a:xfrm>
          <a:prstGeom prst="ellipse">
            <a:avLst/>
          </a:prstGeom>
          <a:solidFill>
            <a:srgbClr val="0E7C86"/>
          </a:solidFill>
          <a:ln/>
          <a:effectLst>
            <a:outerShdw blurRad="63500" dist="25400" dir="5400000" algn="bl" rotWithShape="0">
              <a:srgbClr val="0F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645" y="2525573"/>
            <a:ext cx="252374" cy="25237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040880" y="237744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Пощенска банка — EVA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6400800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 (M1)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6400800" y="3291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5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82.3</a:t>
            </a:r>
            <a:endParaRPr lang="en-US" sz="3600" dirty="0"/>
          </a:p>
        </p:txBody>
      </p:sp>
      <p:sp>
        <p:nvSpPr>
          <p:cNvPr id="29" name="Text 22"/>
          <p:cNvSpPr/>
          <p:nvPr/>
        </p:nvSpPr>
        <p:spPr>
          <a:xfrm>
            <a:off x="6400800" y="3950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100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400800" y="4224528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DF1E3"/>
          </a:solidFill>
          <a:ln w="12700">
            <a:solidFill>
              <a:srgbClr val="EBC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4"/>
          <p:cNvSpPr/>
          <p:nvPr/>
        </p:nvSpPr>
        <p:spPr>
          <a:xfrm>
            <a:off x="6400800" y="42245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Среден риск · 0/9 флага</a:t>
            </a:r>
            <a:endParaRPr lang="en-US" sz="95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3154680"/>
            <a:ext cx="182880" cy="1828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686800" y="308152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По‑предпазлив, по‑малко полезен</a:t>
            </a:r>
            <a:endParaRPr lang="en-US" sz="115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3657600"/>
            <a:ext cx="182880" cy="18288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686800" y="358444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Често предефинирани опции/бутони</a:t>
            </a:r>
            <a:endParaRPr lang="en-US" sz="1150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4160520"/>
            <a:ext cx="182880" cy="18288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8686800" y="408736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Насочва към служител и официални канали</a:t>
            </a:r>
            <a:endParaRPr lang="en-US" sz="1150" dirty="0"/>
          </a:p>
        </p:txBody>
      </p:sp>
      <p:sp>
        <p:nvSpPr>
          <p:cNvPr id="38" name="Shape 28"/>
          <p:cNvSpPr/>
          <p:nvPr/>
        </p:nvSpPr>
        <p:spPr>
          <a:xfrm>
            <a:off x="594360" y="4800600"/>
            <a:ext cx="10972800" cy="1188720"/>
          </a:xfrm>
          <a:prstGeom prst="roundRect">
            <a:avLst>
              <a:gd name="adj" fmla="val 7692"/>
            </a:avLst>
          </a:prstGeom>
          <a:solidFill>
            <a:srgbClr val="0F2A33"/>
          </a:solidFill>
          <a:ln/>
          <a:effectLst>
            <a:outerShdw blurRad="114300" dist="38100" dir="5400000" algn="bl" rotWithShape="0">
              <a:srgbClr val="0F2A33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29"/>
          <p:cNvSpPr/>
          <p:nvPr/>
        </p:nvSpPr>
        <p:spPr>
          <a:xfrm>
            <a:off x="868680" y="5074920"/>
            <a:ext cx="548640" cy="548640"/>
          </a:xfrm>
          <a:prstGeom prst="ellipse">
            <a:avLst/>
          </a:prstGeom>
          <a:solidFill>
            <a:srgbClr val="0E7C86"/>
          </a:solidFill>
          <a:ln/>
          <a:effectLst>
            <a:outerShdw blurRad="63500" dist="25400" dir="5400000" algn="bl" rotWithShape="0">
              <a:srgbClr val="0F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813" y="5223053"/>
            <a:ext cx="252374" cy="252374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1554480" y="4983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Ключово наблюдение</a:t>
            </a:r>
            <a:endParaRPr lang="en-US" sz="1100" dirty="0"/>
          </a:p>
        </p:txBody>
      </p:sp>
      <p:sp>
        <p:nvSpPr>
          <p:cNvPr id="42" name="Text 31"/>
          <p:cNvSpPr/>
          <p:nvPr/>
        </p:nvSpPr>
        <p:spPr>
          <a:xfrm>
            <a:off x="1554480" y="525780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Безопасност, съответствие и полезност са различни измерения. По‑ниският риск (EVA) не означава по‑добро обслужване; по‑полезният бот (ДСК) поема по‑висок риск. M2/M3 дават по‑високи оценки (~91–93, нисък риск), но са по‑малко критични към частичните слабости от M1.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98448"/>
          </a:xfrm>
          <a:prstGeom prst="rect">
            <a:avLst/>
          </a:prstGeom>
          <a:solidFill>
            <a:srgbClr val="F2F7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54864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Ограничения на изследването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744200" y="201168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Признаването на ограниченията е необходимо за коректна интерпретация на резултатите — те не отменят валидността на методологията, а очертават условията за нейното развитие.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2148840"/>
            <a:ext cx="541324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6E8"/>
            </a:solidFill>
            <a:prstDash val="solid"/>
          </a:ln>
          <a:effectLst>
            <a:outerShdw blurRad="88900" dist="25400" dir="5400000" algn="bl" rotWithShape="0">
              <a:srgbClr val="0F2A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257800" y="2368296"/>
            <a:ext cx="475488" cy="475488"/>
          </a:xfrm>
          <a:prstGeom prst="ellipse">
            <a:avLst/>
          </a:prstGeom>
          <a:solidFill>
            <a:srgbClr val="FDF1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57800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5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50392" y="2423160"/>
            <a:ext cx="548640" cy="548640"/>
          </a:xfrm>
          <a:prstGeom prst="ellipse">
            <a:avLst/>
          </a:prstGeom>
          <a:solidFill>
            <a:srgbClr val="0E7C86"/>
          </a:solidFill>
          <a:ln/>
          <a:effectLst>
            <a:outerShdw blurRad="63500" dist="25400" dir="5400000" algn="bl" rotWithShape="0">
              <a:srgbClr val="0F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525" y="2571293"/>
            <a:ext cx="252374" cy="25237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50392" y="3063240"/>
            <a:ext cx="4864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Симулиран набор от данни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50392" y="3429000"/>
            <a:ext cx="4910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Данните са генерирани чрез системни профили и не отразяват напълно разнообразието на реалните потребителски взаимодействия.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45352" y="2148840"/>
            <a:ext cx="541324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6E8"/>
            </a:solidFill>
            <a:prstDash val="solid"/>
          </a:ln>
          <a:effectLst>
            <a:outerShdw blurRad="88900" dist="25400" dir="5400000" algn="bl" rotWithShape="0">
              <a:srgbClr val="0F2A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0908792" y="2368296"/>
            <a:ext cx="475488" cy="475488"/>
          </a:xfrm>
          <a:prstGeom prst="ellipse">
            <a:avLst/>
          </a:prstGeom>
          <a:solidFill>
            <a:srgbClr val="FDF1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908792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5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6501384" y="2423160"/>
            <a:ext cx="548640" cy="548640"/>
          </a:xfrm>
          <a:prstGeom prst="ellipse">
            <a:avLst/>
          </a:prstGeom>
          <a:solidFill>
            <a:srgbClr val="0E7C86"/>
          </a:solidFill>
          <a:ln/>
          <a:effectLst>
            <a:outerShdw blurRad="63500" dist="25400" dir="5400000" algn="bl" rotWithShape="0">
              <a:srgbClr val="0F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9517" y="2571293"/>
            <a:ext cx="252374" cy="25237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501384" y="3063240"/>
            <a:ext cx="4864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Без независима човешка валидация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501384" y="3429000"/>
            <a:ext cx="4910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Автоматизираното оценяване чрез LLM judge е мащабируемо, но не е проверено от независими човешки експерти.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594360" y="4133088"/>
            <a:ext cx="541324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6E8"/>
            </a:solidFill>
            <a:prstDash val="solid"/>
          </a:ln>
          <a:effectLst>
            <a:outerShdw blurRad="88900" dist="25400" dir="5400000" algn="bl" rotWithShape="0">
              <a:srgbClr val="0F2A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5257800" y="4352544"/>
            <a:ext cx="475488" cy="475488"/>
          </a:xfrm>
          <a:prstGeom prst="ellipse">
            <a:avLst/>
          </a:prstGeom>
          <a:solidFill>
            <a:srgbClr val="FDF1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5257800" y="43525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5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Shape 21"/>
          <p:cNvSpPr/>
          <p:nvPr/>
        </p:nvSpPr>
        <p:spPr>
          <a:xfrm>
            <a:off x="850392" y="4407408"/>
            <a:ext cx="548640" cy="548640"/>
          </a:xfrm>
          <a:prstGeom prst="ellipse">
            <a:avLst/>
          </a:prstGeom>
          <a:solidFill>
            <a:srgbClr val="0E7C86"/>
          </a:solidFill>
          <a:ln/>
          <a:effectLst>
            <a:outerShdw blurRad="63500" dist="25400" dir="5400000" algn="bl" rotWithShape="0">
              <a:srgbClr val="0F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525" y="4555541"/>
            <a:ext cx="252374" cy="25237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50392" y="5047488"/>
            <a:ext cx="4864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Малко примери в някои категории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850392" y="5413248"/>
            <a:ext cx="4910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Достъпност, пропусната ескалация и пристрастност имат ограничен брой положителни примери — влияе на надеждността там.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6245352" y="4133088"/>
            <a:ext cx="541324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6E8"/>
            </a:solidFill>
            <a:prstDash val="solid"/>
          </a:ln>
          <a:effectLst>
            <a:outerShdw blurRad="88900" dist="25400" dir="5400000" algn="bl" rotWithShape="0">
              <a:srgbClr val="0F2A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10908792" y="4352544"/>
            <a:ext cx="475488" cy="475488"/>
          </a:xfrm>
          <a:prstGeom prst="ellipse">
            <a:avLst/>
          </a:prstGeom>
          <a:solidFill>
            <a:srgbClr val="FDF1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10908792" y="43525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5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32" name="Shape 27"/>
          <p:cNvSpPr/>
          <p:nvPr/>
        </p:nvSpPr>
        <p:spPr>
          <a:xfrm>
            <a:off x="6501384" y="4407408"/>
            <a:ext cx="548640" cy="548640"/>
          </a:xfrm>
          <a:prstGeom prst="ellipse">
            <a:avLst/>
          </a:prstGeom>
          <a:solidFill>
            <a:srgbClr val="0E7C86"/>
          </a:solidFill>
          <a:ln/>
          <a:effectLst>
            <a:outerShdw blurRad="63500" dist="25400" dir="5400000" algn="bl" rotWithShape="0">
              <a:srgbClr val="0F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9517" y="4555541"/>
            <a:ext cx="252374" cy="252374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6501384" y="5047488"/>
            <a:ext cx="4864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Работна схема от тегла в BRI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6501384" y="5413248"/>
            <a:ext cx="4910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Теглата са работна хипотеза; изискват сензитивностен анализ и оценка от специалисти в областта.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840480"/>
            <a:ext cx="5669280" cy="5669280"/>
          </a:xfrm>
          <a:prstGeom prst="ellipse">
            <a:avLst/>
          </a:prstGeom>
          <a:solidFill>
            <a:srgbClr val="143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01200" y="-2377440"/>
            <a:ext cx="5120640" cy="5120640"/>
          </a:xfrm>
          <a:prstGeom prst="ellipse">
            <a:avLst/>
          </a:prstGeom>
          <a:solidFill>
            <a:srgbClr val="0A5A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ЗАКЛЮЧЕНИЕ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Извод и посоки за подобрение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48640" cy="548640"/>
          </a:xfrm>
          <a:prstGeom prst="ellipse">
            <a:avLst/>
          </a:prstGeom>
          <a:solidFill>
            <a:srgbClr val="0E7C86"/>
          </a:solidFill>
          <a:ln/>
          <a:effectLst>
            <a:outerShdw blurRad="63500" dist="25400" dir="5400000" algn="bl" rotWithShape="0">
              <a:srgbClr val="0F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3" y="1839773"/>
            <a:ext cx="252374" cy="2523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6916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Постигнато</a:t>
            </a:r>
            <a:endParaRPr lang="en-US" sz="17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40487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78992" y="2304288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E2E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Прототип, който превръща свободен разговор в структурирана, сравнима оценка</a:t>
            </a:r>
            <a:endParaRPr lang="en-US" sz="12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3044952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78992" y="2944368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E2E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Петфазовият протокол е реализиран и адаптиран към банков контекст</a:t>
            </a:r>
            <a:endParaRPr lang="en-US" sz="12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3685032"/>
            <a:ext cx="219456" cy="2194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78992" y="3584448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E2E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Risk Index + подскорове R₁–R₁₀ като управленски инструмент</a:t>
            </a:r>
            <a:endParaRPr lang="en-US" sz="12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4325112"/>
            <a:ext cx="219456" cy="21945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78992" y="4224528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E2E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малки дисбалансирани данни базовият модел M1 надминава трансформерите</a:t>
            </a:r>
            <a:endParaRPr lang="en-US" sz="12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4965192"/>
            <a:ext cx="219456" cy="219456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078992" y="4864608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E2E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обяснимост проследява риска до конкретни думи</a:t>
            </a:r>
            <a:endParaRPr lang="en-US" sz="1250" dirty="0"/>
          </a:p>
        </p:txBody>
      </p:sp>
      <p:sp>
        <p:nvSpPr>
          <p:cNvPr id="19" name="Shape 11"/>
          <p:cNvSpPr/>
          <p:nvPr/>
        </p:nvSpPr>
        <p:spPr>
          <a:xfrm>
            <a:off x="6537960" y="1627632"/>
            <a:ext cx="498348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F2A33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2"/>
          <p:cNvSpPr/>
          <p:nvPr/>
        </p:nvSpPr>
        <p:spPr>
          <a:xfrm>
            <a:off x="6830568" y="1901952"/>
            <a:ext cx="530352" cy="530352"/>
          </a:xfrm>
          <a:prstGeom prst="ellipse">
            <a:avLst/>
          </a:prstGeom>
          <a:solidFill>
            <a:srgbClr val="0E7C86"/>
          </a:solidFill>
          <a:ln/>
          <a:effectLst>
            <a:outerShdw blurRad="63500" dist="25400" dir="5400000" algn="bl" rotWithShape="0">
              <a:srgbClr val="0F2A3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3763" y="2045147"/>
            <a:ext cx="243962" cy="243962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498080" y="1901952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Бъдещи подобрения</a:t>
            </a:r>
            <a:endParaRPr lang="en-US" sz="1700" dirty="0"/>
          </a:p>
        </p:txBody>
      </p:sp>
      <p:sp>
        <p:nvSpPr>
          <p:cNvPr id="23" name="Shape 14"/>
          <p:cNvSpPr/>
          <p:nvPr/>
        </p:nvSpPr>
        <p:spPr>
          <a:xfrm>
            <a:off x="6848856" y="2596896"/>
            <a:ext cx="310896" cy="310896"/>
          </a:xfrm>
          <a:prstGeom prst="ellipse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5"/>
          <p:cNvSpPr/>
          <p:nvPr/>
        </p:nvSpPr>
        <p:spPr>
          <a:xfrm>
            <a:off x="6848856" y="2596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Text 16"/>
          <p:cNvSpPr/>
          <p:nvPr/>
        </p:nvSpPr>
        <p:spPr>
          <a:xfrm>
            <a:off x="7306056" y="254203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Отделен критерий за релевантност и полезност на отговора</a:t>
            </a:r>
            <a:endParaRPr lang="en-US" sz="1200" dirty="0"/>
          </a:p>
        </p:txBody>
      </p:sp>
      <p:sp>
        <p:nvSpPr>
          <p:cNvPr id="26" name="Shape 17"/>
          <p:cNvSpPr/>
          <p:nvPr/>
        </p:nvSpPr>
        <p:spPr>
          <a:xfrm>
            <a:off x="6848856" y="3163824"/>
            <a:ext cx="310896" cy="310896"/>
          </a:xfrm>
          <a:prstGeom prst="ellipse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18"/>
          <p:cNvSpPr/>
          <p:nvPr/>
        </p:nvSpPr>
        <p:spPr>
          <a:xfrm>
            <a:off x="6848856" y="3163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Text 19"/>
          <p:cNvSpPr/>
          <p:nvPr/>
        </p:nvSpPr>
        <p:spPr>
          <a:xfrm>
            <a:off x="7306056" y="31089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Разширяване и балансиране на набора от данни</a:t>
            </a:r>
            <a:endParaRPr lang="en-US" sz="1200" dirty="0"/>
          </a:p>
        </p:txBody>
      </p:sp>
      <p:sp>
        <p:nvSpPr>
          <p:cNvPr id="29" name="Shape 20"/>
          <p:cNvSpPr/>
          <p:nvPr/>
        </p:nvSpPr>
        <p:spPr>
          <a:xfrm>
            <a:off x="6848856" y="3730752"/>
            <a:ext cx="310896" cy="310896"/>
          </a:xfrm>
          <a:prstGeom prst="ellipse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1"/>
          <p:cNvSpPr/>
          <p:nvPr/>
        </p:nvSpPr>
        <p:spPr>
          <a:xfrm>
            <a:off x="6848856" y="3730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7306056" y="367588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Човешка експертна валидация на автоматичните оценки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6848856" y="4297680"/>
            <a:ext cx="310896" cy="310896"/>
          </a:xfrm>
          <a:prstGeom prst="ellipse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4"/>
          <p:cNvSpPr/>
          <p:nvPr/>
        </p:nvSpPr>
        <p:spPr>
          <a:xfrm>
            <a:off x="6848856" y="4297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25"/>
          <p:cNvSpPr/>
          <p:nvPr/>
        </p:nvSpPr>
        <p:spPr>
          <a:xfrm>
            <a:off x="7306056" y="424281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Сензитивностен анализ на теглата в BRI</a:t>
            </a:r>
            <a:endParaRPr lang="en-US" sz="1200" dirty="0"/>
          </a:p>
        </p:txBody>
      </p:sp>
      <p:sp>
        <p:nvSpPr>
          <p:cNvPr id="35" name="Shape 26"/>
          <p:cNvSpPr/>
          <p:nvPr/>
        </p:nvSpPr>
        <p:spPr>
          <a:xfrm>
            <a:off x="6848856" y="4864608"/>
            <a:ext cx="310896" cy="310896"/>
          </a:xfrm>
          <a:prstGeom prst="ellipse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27"/>
          <p:cNvSpPr/>
          <p:nvPr/>
        </p:nvSpPr>
        <p:spPr>
          <a:xfrm>
            <a:off x="6848856" y="4864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7" name="Text 28"/>
          <p:cNvSpPr/>
          <p:nvPr/>
        </p:nvSpPr>
        <p:spPr>
          <a:xfrm>
            <a:off x="7306056" y="480974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Директна интеграция с реални чатботи</a:t>
            </a:r>
            <a:endParaRPr lang="en-US" sz="1200" dirty="0"/>
          </a:p>
        </p:txBody>
      </p:sp>
      <p:sp>
        <p:nvSpPr>
          <p:cNvPr id="38" name="Shape 29"/>
          <p:cNvSpPr/>
          <p:nvPr/>
        </p:nvSpPr>
        <p:spPr>
          <a:xfrm>
            <a:off x="6848856" y="5431536"/>
            <a:ext cx="310896" cy="310896"/>
          </a:xfrm>
          <a:prstGeom prst="ellipse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0"/>
          <p:cNvSpPr/>
          <p:nvPr/>
        </p:nvSpPr>
        <p:spPr>
          <a:xfrm>
            <a:off x="6848856" y="5431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0" name="Text 31"/>
          <p:cNvSpPr/>
          <p:nvPr/>
        </p:nvSpPr>
        <p:spPr>
          <a:xfrm>
            <a:off x="7306056" y="53766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Поддръжка на допълнителни езици и регулаторни контексти</a:t>
            </a:r>
            <a:endParaRPr lang="en-US" sz="1200" dirty="0"/>
          </a:p>
        </p:txBody>
      </p:sp>
      <p:sp>
        <p:nvSpPr>
          <p:cNvPr id="41" name="Text 32"/>
          <p:cNvSpPr/>
          <p:nvPr/>
        </p:nvSpPr>
        <p:spPr>
          <a:xfrm>
            <a:off x="640080" y="598932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i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Благодаря за вниманието!</a:t>
            </a:r>
            <a:endParaRPr lang="en-US" sz="1900" dirty="0"/>
          </a:p>
        </p:txBody>
      </p:sp>
      <p:sp>
        <p:nvSpPr>
          <p:cNvPr id="42" name="Text 33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3397</Words>
  <Application>Microsoft Office PowerPoint</Application>
  <PresentationFormat>Widescreen</PresentationFormat>
  <Paragraphs>443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Защита на дипломна работа — Отговорен ИИ за банкови виртуални асистенти</dc:title>
  <dc:subject>PptxGenJS Presentation</dc:subject>
  <dc:creator>Росица Факалиева</dc:creator>
  <cp:lastModifiedBy>Rositsa Fakalieva</cp:lastModifiedBy>
  <cp:revision>2</cp:revision>
  <dcterms:created xsi:type="dcterms:W3CDTF">2026-06-24T18:04:47Z</dcterms:created>
  <dcterms:modified xsi:type="dcterms:W3CDTF">2026-06-24T18:10:35Z</dcterms:modified>
</cp:coreProperties>
</file>